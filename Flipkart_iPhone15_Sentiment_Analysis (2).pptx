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Sentiment</c:v>
                </c:pt>
              </c:strCache>
            </c:strRef>
          </c:tx>
          <c:spPr>
            <a:solidFill>
              <a:schemeClr val="accent1"/>
            </a:solidFill>
            <a:ln w="9525" cap="flat">
              <a:solidFill>
                <a:srgbClr val="F9F9F9"/>
              </a:solidFill>
              <a:prstDash val="solid"/>
              <a:round/>
            </a:ln>
            <a:effectLst/>
          </c:spPr>
          <c:dPt>
            <c:idx val="0"/>
            <c:bubble3D val="0"/>
            <c:spPr>
              <a:solidFill>
                <a:srgbClr val="2E7D46"/>
              </a:solidFill>
              <a:effectLst/>
            </c:spPr>
          </c:dPt>
          <c:dPt>
            <c:idx val="1"/>
            <c:bubble3D val="0"/>
            <c:spPr>
              <a:solidFill>
                <a:srgbClr val="B23A3A"/>
              </a:solidFill>
              <a:effectLst/>
            </c:spPr>
          </c:dPt>
          <c:dLbls>
            <c:dLbl>
              <c:idx val="0"/>
              <c:numFmt formatCode="0"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1"/>
              <c:numFmt formatCode="0"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Positive</c:v>
                </c:pt>
                <c:pt idx="1">
                  <c:v>Negative</c:v>
                </c:pt>
              </c:strCache>
            </c:strRef>
          </c:cat>
          <c:val>
            <c:numRef>
              <c:f>Sheet1!$B$2:$B$3</c:f>
              <c:numCache>
                <c:ptCount val="2"/>
                <c:pt idx="0">
                  <c:v>231</c:v>
                </c:pt>
                <c:pt idx="1">
                  <c:v>69</c:v>
                </c:pt>
              </c:numCache>
            </c:numRef>
          </c:val>
        </c:ser>
        <c:firstSliceAng val="0"/>
      </c:pieChart>
      <c:spPr>
        <a:noFill/>
        <a:ln>
          <a:noFill/>
        </a:ln>
        <a:effectLst/>
      </c:spPr>
    </c:plotArea>
    <c:legend>
      <c:legendPos val="b"/>
      <c:overlay val="0"/>
      <c:txPr>
        <a:bodyPr/>
        <a:lstStyle/>
        <a:p>
          <a:pPr>
            <a:defRPr sz="1200">
              <a:solidFill>
                <a:srgbClr val="23262B"/>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Polarity</c:v>
                </c:pt>
              </c:strCache>
            </c:strRef>
          </c:tx>
          <c:spPr>
            <a:solidFill>
              <a:srgbClr val="B23A3A"/>
            </a:solidFill>
            <a:effectLst/>
          </c:spPr>
          <c:invertIfNegative val="0"/>
          <c:dLbls>
            <c:numFmt formatCode="0.0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dPt>
            <c:idx val="0"/>
            <c:invertIfNegative val="0"/>
            <c:bubble3D val="0"/>
            <c:spPr>
              <a:solidFill>
                <a:srgbClr val="B23A3A"/>
              </a:solidFill>
              <a:effectLst/>
            </c:spPr>
          </c:dPt>
          <c:dPt>
            <c:idx val="1"/>
            <c:invertIfNegative val="0"/>
            <c:bubble3D val="0"/>
            <c:spPr>
              <a:solidFill>
                <a:srgbClr val="CC7A4E"/>
              </a:solidFill>
              <a:effectLst/>
            </c:spPr>
          </c:dPt>
          <c:dPt>
            <c:idx val="2"/>
            <c:invertIfNegative val="0"/>
            <c:bubble3D val="0"/>
            <c:spPr>
              <a:solidFill>
                <a:srgbClr val="D9B34B"/>
              </a:solidFill>
              <a:effectLst/>
            </c:spPr>
          </c:dPt>
          <c:dPt>
            <c:idx val="3"/>
            <c:invertIfNegative val="0"/>
            <c:bubble3D val="0"/>
            <c:spPr>
              <a:solidFill>
                <a:srgbClr val="7CAE5C"/>
              </a:solidFill>
              <a:effectLst/>
            </c:spPr>
          </c:dPt>
          <c:dPt>
            <c:idx val="4"/>
            <c:invertIfNegative val="0"/>
            <c:bubble3D val="0"/>
            <c:spPr>
              <a:solidFill>
                <a:srgbClr val="2E7D46"/>
              </a:solidFill>
              <a:effectLst/>
            </c:spPr>
          </c:dPt>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-0.18</c:v>
                </c:pt>
                <c:pt idx="1">
                  <c:v>-0.05</c:v>
                </c:pt>
                <c:pt idx="2">
                  <c:v>0.12</c:v>
                </c:pt>
                <c:pt idx="3">
                  <c:v>0.34</c:v>
                </c:pt>
                <c:pt idx="4">
                  <c:v>0.52</c:v>
                </c:pt>
              </c:numCache>
            </c:numRef>
          </c:val>
        </c:ser>
        <c:dLbls>
          <c:numFmt formatCode="0.0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3262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6EA"/>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Average polarity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262B"/>
                </a:solidFill>
                <a:latin typeface="Arial"/>
              </a:defRPr>
            </a:pPr>
            <a:r>
              <a:rPr sz="1300" b="0" i="0" u="none" strike="noStrike">
                <a:solidFill>
                  <a:srgbClr val="23262B"/>
                </a:solidFill>
                <a:latin typeface="Arial"/>
              </a:rPr>
              <a:t>Top words by sentiment</a:t>
            </a:r>
          </a:p>
        </c:rich>
      </c:tx>
      <c:layout/>
      <c:overlay val="0"/>
    </c:title>
    <c:autoTitleDeleted val="0"/>
    <c:plotArea>
      <c:layout/>
      <c:barChart>
        <c:barDir val="bar"/>
        <c:grouping val="clustered"/>
        <c:varyColors val="0"/>
        <c:ser>
          <c:idx val="0"/>
          <c:order val="0"/>
          <c:tx>
            <c:strRef>
              <c:f>Sheet1!$B$1</c:f>
              <c:strCache>
                <c:ptCount val="1"/>
                <c:pt idx="0">
                  <c:v>Positive reviews</c:v>
                </c:pt>
              </c:strCache>
            </c:strRef>
          </c:tx>
          <c:spPr>
            <a:solidFill>
              <a:srgbClr val="2E7D4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camera</c:v>
                  </c:pt>
                  <c:pt idx="1">
                    <c:v>battery</c:v>
                  </c:pt>
                  <c:pt idx="2">
                    <c:v>display</c:v>
                  </c:pt>
                  <c:pt idx="3">
                    <c:v>fast</c:v>
                  </c:pt>
                  <c:pt idx="4">
                    <c:v>value</c:v>
                  </c:pt>
                </c:lvl>
              </c:multiLvlStrCache>
            </c:multiLvlStrRef>
          </c:cat>
          <c:val>
            <c:numRef>
              <c:f>Sheet1!$B$2:$B$6</c:f>
              <c:numCache>
                <c:formatCode>General</c:formatCode>
                <c:ptCount val="5"/>
                <c:pt idx="0">
                  <c:v>142</c:v>
                </c:pt>
                <c:pt idx="1">
                  <c:v>118</c:v>
                </c:pt>
                <c:pt idx="2">
                  <c:v>96</c:v>
                </c:pt>
                <c:pt idx="3">
                  <c:v>88</c:v>
                </c:pt>
                <c:pt idx="4">
                  <c:v>74</c:v>
                </c:pt>
              </c:numCache>
            </c:numRef>
          </c:val>
        </c:ser>
        <c:ser>
          <c:idx val="1"/>
          <c:order val="1"/>
          <c:tx>
            <c:strRef>
              <c:f>Sheet1!$C$1</c:f>
              <c:strCache>
                <c:ptCount val="1"/>
                <c:pt idx="0">
                  <c:v>Negative reviews</c:v>
                </c:pt>
              </c:strCache>
            </c:strRef>
          </c:tx>
          <c:spPr>
            <a:solidFill>
              <a:srgbClr val="B23A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camera</c:v>
                  </c:pt>
                  <c:pt idx="1">
                    <c:v>battery</c:v>
                  </c:pt>
                  <c:pt idx="2">
                    <c:v>display</c:v>
                  </c:pt>
                  <c:pt idx="3">
                    <c:v>fast</c:v>
                  </c:pt>
                  <c:pt idx="4">
                    <c:v>value</c:v>
                  </c:pt>
                </c:lvl>
              </c:multiLvlStrCache>
            </c:multiLvlStrRef>
          </c:cat>
          <c:val>
            <c:numRef>
              <c:f>Sheet1!$C$2:$C$6</c:f>
              <c:numCache>
                <c:formatCode>General</c:formatCode>
                <c:ptCount val="5"/>
                <c:pt idx="0">
                  <c:v>9</c:v>
                </c:pt>
                <c:pt idx="1">
                  <c:v>41</c:v>
                </c:pt>
                <c:pt idx="2">
                  <c:v>12</c:v>
                </c:pt>
                <c:pt idx="3">
                  <c:v>6</c:v>
                </c:pt>
                <c:pt idx="4">
                  <c:v>38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3262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3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3262B"/>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3262B"/>
                </a:solidFill>
                <a:latin typeface="Arial"/>
              </a:defRPr>
            </a:pPr>
            <a:r>
              <a:rPr sz="1300" b="0" i="0" u="none" strike="noStrike">
                <a:solidFill>
                  <a:srgbClr val="23262B"/>
                </a:solidFill>
                <a:latin typeface="Arial"/>
              </a:rPr>
              <a:t>Review length vs. polarity</a:t>
            </a:r>
          </a:p>
        </c:rich>
      </c:tx>
      <c:layout/>
      <c:overlay val="0"/>
    </c:title>
    <c:autoTitleDeleted val="0"/>
    <c:plotArea>
      <c:layout/>
      <c:barChart>
        <c:barDir val="col"/>
        <c:grouping val="clustered"/>
        <c:varyColors val="0"/>
        <c:ser>
          <c:idx val="0"/>
          <c:order val="0"/>
          <c:tx>
            <c:strRef>
              <c:f>Sheet1!$B$1</c:f>
              <c:strCache>
                <c:ptCount val="1"/>
                <c:pt idx="0">
                  <c:v>Avg. polarity</c:v>
                </c:pt>
              </c:strCache>
            </c:strRef>
          </c:tx>
          <c:spPr>
            <a:solidFill>
              <a:srgbClr val="2E5AAC"/>
            </a:solidFill>
            <a:effectLst/>
          </c:spPr>
          <c:invertIfNegative val="0"/>
          <c:dLbls>
            <c:numFmt formatCode="0.0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cat>
            <c:multiLvlStrRef>
              <c:f>Sheet1!$A$2:$A$4</c:f>
              <c:multiLvlStrCache>
                <c:ptCount val="3"/>
                <c:lvl>
                  <c:pt idx="0">
                    <c:v>Short
(&lt;20 words)</c:v>
                  </c:pt>
                  <c:pt idx="1">
                    <c:v>Medium
(20–50 words)</c:v>
                  </c:pt>
                  <c:pt idx="2">
                    <c:v>Long
(50+ words)</c:v>
                  </c:pt>
                </c:lvl>
              </c:multiLvlStrCache>
            </c:multiLvlStrRef>
          </c:cat>
          <c:val>
            <c:numRef>
              <c:f>Sheet1!$B$2:$B$4</c:f>
              <c:numCache>
                <c:formatCode>General</c:formatCode>
                <c:ptCount val="3"/>
                <c:pt idx="0">
                  <c:v>0.32</c:v>
                </c:pt>
                <c:pt idx="1">
                  <c:v>0.18</c:v>
                </c:pt>
                <c:pt idx="2">
                  <c:v>-0.06</c:v>
                </c:pt>
              </c:numCache>
            </c:numRef>
          </c:val>
        </c:ser>
        <c:dLbls>
          <c:numFmt formatCode="0.00" sourceLinked="0"/>
          <c:txPr>
            <a:bodyPr/>
            <a:lstStyle/>
            <a:p>
              <a:pPr>
                <a:defRPr b="0" i="0" strike="noStrike" sz="1100" u="none">
                  <a:solidFill>
                    <a:srgbClr val="23262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7280"/>
                    </a:solidFill>
                    <a:latin typeface="Arial"/>
                  </a:defRPr>
                </a:pPr>
                <a:r>
                  <a:rPr sz="1000" b="0" i="0" u="none" strike="noStrike">
                    <a:solidFill>
                      <a:srgbClr val="6B7280"/>
                    </a:solidFill>
                    <a:latin typeface="Arial"/>
                  </a:rPr>
                  <a:t>Review length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6EA"/>
              </a:solidFill>
              <a:prstDash val="solid"/>
              <a:round/>
            </a:ln>
          </c:spPr>
        </c:majorGridlines>
        <c:title>
          <c:tx>
            <c:rich>
              <a:bodyPr/>
              <a:lstStyle/>
              <a:p>
                <a:pPr>
                  <a:defRPr sz="1000" b="0" i="0" u="none" strike="noStrike">
                    <a:solidFill>
                      <a:srgbClr val="6B7280"/>
                    </a:solidFill>
                    <a:latin typeface="Arial"/>
                  </a:defRPr>
                </a:pPr>
                <a:r>
                  <a:rPr sz="1000" b="0" i="0" u="none" strike="noStrike">
                    <a:solidFill>
                      <a:srgbClr val="6B7280"/>
                    </a:solidFill>
                    <a:latin typeface="Arial"/>
                  </a:rPr>
                  <a:t>Average polarity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640080" y="1965960"/>
            <a:ext cx="7315200" cy="320040"/>
          </a:xfrm>
          <a:prstGeom prst="rect">
            <a:avLst/>
          </a:prstGeom>
          <a:noFill/>
          <a:ln/>
        </p:spPr>
        <p:txBody>
          <a:bodyPr wrap="square" rtlCol="0" anchor="ctr"/>
          <a:lstStyle/>
          <a:p>
            <a:pPr indent="0" marL="0">
              <a:buNone/>
            </a:pPr>
            <a:r>
              <a:rPr lang="en-US" sz="1300" b="1" spc="200" kern="0" dirty="0">
                <a:solidFill>
                  <a:srgbClr val="8FA8D6"/>
                </a:solidFill>
                <a:latin typeface="Calibri" pitchFamily="34" charset="0"/>
                <a:ea typeface="Calibri" pitchFamily="34" charset="-122"/>
                <a:cs typeface="Calibri" pitchFamily="34" charset="-120"/>
              </a:rPr>
              <a:t>PYTHON PROJECT</a:t>
            </a:r>
            <a:endParaRPr lang="en-US" sz="1300" dirty="0"/>
          </a:p>
        </p:txBody>
      </p:sp>
      <p:sp>
        <p:nvSpPr>
          <p:cNvPr id="3" name="Text 1"/>
          <p:cNvSpPr/>
          <p:nvPr/>
        </p:nvSpPr>
        <p:spPr>
          <a:xfrm>
            <a:off x="640080" y="2331720"/>
            <a:ext cx="9601200" cy="1554480"/>
          </a:xfrm>
          <a:prstGeom prst="rect">
            <a:avLst/>
          </a:prstGeom>
          <a:noFill/>
          <a:ln/>
        </p:spPr>
        <p:txBody>
          <a:bodyPr wrap="square" rtlCol="0" anchor="ctr"/>
          <a:lstStyle/>
          <a:p>
            <a:pPr indent="0" marL="0">
              <a:lnSpc>
                <a:spcPct val="110000"/>
              </a:lnSpc>
              <a:buNone/>
            </a:pPr>
            <a:r>
              <a:rPr lang="en-US" sz="3400" b="1" dirty="0">
                <a:solidFill>
                  <a:srgbClr val="FFFFFF"/>
                </a:solidFill>
                <a:latin typeface="Calibri" pitchFamily="34" charset="0"/>
                <a:ea typeface="Calibri" pitchFamily="34" charset="-122"/>
                <a:cs typeface="Calibri" pitchFamily="34" charset="-120"/>
              </a:rPr>
              <a:t>Flipkart iPhone 15 (128GB)</a:t>
            </a:r>
            <a:endParaRPr lang="en-US" sz="3400" dirty="0"/>
          </a:p>
          <a:p>
            <a:pPr indent="0" marL="0">
              <a:lnSpc>
                <a:spcPct val="110000"/>
              </a:lnSpc>
              <a:buNone/>
            </a:pPr>
            <a:r>
              <a:rPr lang="en-US" sz="3400" b="1" dirty="0">
                <a:solidFill>
                  <a:srgbClr val="FFFFFF"/>
                </a:solidFill>
                <a:latin typeface="Calibri" pitchFamily="34" charset="0"/>
                <a:ea typeface="Calibri" pitchFamily="34" charset="-122"/>
                <a:cs typeface="Calibri" pitchFamily="34" charset="-120"/>
              </a:rPr>
              <a:t>Review Sentiment Analysis</a:t>
            </a:r>
            <a:endParaRPr lang="en-US" sz="3400" dirty="0"/>
          </a:p>
        </p:txBody>
      </p:sp>
      <p:sp>
        <p:nvSpPr>
          <p:cNvPr id="4" name="Text 2"/>
          <p:cNvSpPr/>
          <p:nvPr/>
        </p:nvSpPr>
        <p:spPr>
          <a:xfrm>
            <a:off x="640080" y="3886200"/>
            <a:ext cx="9144000" cy="365760"/>
          </a:xfrm>
          <a:prstGeom prst="rect">
            <a:avLst/>
          </a:prstGeom>
          <a:noFill/>
          <a:ln/>
        </p:spPr>
        <p:txBody>
          <a:bodyPr wrap="square" rtlCol="0" anchor="ctr"/>
          <a:lstStyle/>
          <a:p>
            <a:pPr indent="0" marL="0">
              <a:buNone/>
            </a:pPr>
            <a:r>
              <a:rPr lang="en-US" sz="1400" dirty="0">
                <a:solidFill>
                  <a:srgbClr val="AEB8C4"/>
                </a:solidFill>
                <a:latin typeface="Calibri" pitchFamily="34" charset="0"/>
                <a:ea typeface="Calibri" pitchFamily="34" charset="-122"/>
                <a:cs typeface="Calibri" pitchFamily="34" charset="-120"/>
              </a:rPr>
              <a:t>Web Scraping • Data Cleaning • Sentiment Classification • Insight Reporting</a:t>
            </a:r>
            <a:endParaRPr lang="en-US" sz="1400" dirty="0"/>
          </a:p>
        </p:txBody>
      </p:sp>
      <p:sp>
        <p:nvSpPr>
          <p:cNvPr id="5" name="Text 3"/>
          <p:cNvSpPr/>
          <p:nvPr/>
        </p:nvSpPr>
        <p:spPr>
          <a:xfrm>
            <a:off x="640080" y="4343400"/>
            <a:ext cx="9144000" cy="365760"/>
          </a:xfrm>
          <a:prstGeom prst="rect">
            <a:avLst/>
          </a:prstGeom>
          <a:noFill/>
          <a:ln/>
        </p:spPr>
        <p:txBody>
          <a:bodyPr wrap="square" rtlCol="0" anchor="ctr"/>
          <a:lstStyle/>
          <a:p>
            <a:pPr indent="0" marL="0">
              <a:buNone/>
            </a:pPr>
            <a:r>
              <a:rPr lang="en-US" sz="1200" i="1" dirty="0">
                <a:solidFill>
                  <a:srgbClr val="7C8896"/>
                </a:solidFill>
                <a:latin typeface="Calibri" pitchFamily="34" charset="0"/>
                <a:ea typeface="Calibri" pitchFamily="34" charset="-122"/>
                <a:cs typeface="Calibri" pitchFamily="34" charset="-120"/>
              </a:rPr>
              <a:t>Tools used: Selenium, BeautifulSoup, Pandas, NLTK, TextBlob, Matplotlib, Seaborn</a:t>
            </a:r>
            <a:endParaRPr lang="en-US" sz="1200" dirty="0"/>
          </a:p>
        </p:txBody>
      </p:sp>
      <p:sp>
        <p:nvSpPr>
          <p:cNvPr id="6" name="Text 4"/>
          <p:cNvSpPr/>
          <p:nvPr/>
        </p:nvSpPr>
        <p:spPr>
          <a:xfrm>
            <a:off x="640080" y="5989320"/>
            <a:ext cx="7315200" cy="320040"/>
          </a:xfrm>
          <a:prstGeom prst="rect">
            <a:avLst/>
          </a:prstGeom>
          <a:noFill/>
          <a:ln/>
        </p:spPr>
        <p:txBody>
          <a:bodyPr wrap="square" rtlCol="0" anchor="ctr"/>
          <a:lstStyle/>
          <a:p>
            <a:pPr indent="0" marL="0">
              <a:buNone/>
            </a:pPr>
            <a:r>
              <a:rPr lang="en-US" sz="1100" dirty="0">
                <a:solidFill>
                  <a:srgbClr val="5E6773"/>
                </a:solidFill>
                <a:latin typeface="Calibri" pitchFamily="34" charset="0"/>
                <a:ea typeface="Calibri" pitchFamily="34" charset="-122"/>
                <a:cs typeface="Calibri" pitchFamily="34" charset="-120"/>
              </a:rPr>
              <a:t>Submitted as a Python data analysis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PROJECT BRIEF</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Objective &amp; Scope</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554480"/>
            <a:ext cx="6675120" cy="1371600"/>
          </a:xfrm>
          <a:prstGeom prst="rect">
            <a:avLst/>
          </a:prstGeom>
          <a:noFill/>
          <a:ln/>
        </p:spPr>
        <p:txBody>
          <a:bodyPr wrap="square" rtlCol="0" anchor="ctr"/>
          <a:lstStyle/>
          <a:p>
            <a:pPr indent="0" marL="0">
              <a:lnSpc>
                <a:spcPct val="135000"/>
              </a:lnSpc>
              <a:buNone/>
            </a:pPr>
            <a:r>
              <a:rPr lang="en-US" sz="1400" dirty="0">
                <a:solidFill>
                  <a:srgbClr val="23262B"/>
                </a:solidFill>
                <a:latin typeface="Calibri" pitchFamily="34" charset="0"/>
                <a:ea typeface="Calibri" pitchFamily="34" charset="-122"/>
                <a:cs typeface="Calibri" pitchFamily="34" charset="-120"/>
              </a:rPr>
              <a:t>The goal of this project is to scrape at least 300 customer reviews for the iPhone 15 (128GB) listing on Flipkart, clean and preprocess the text, classify each review's sentiment, and study how sentiment relates to the star rating customers gave.</a:t>
            </a:r>
            <a:endParaRPr lang="en-US" sz="1400" dirty="0"/>
          </a:p>
        </p:txBody>
      </p:sp>
      <p:sp>
        <p:nvSpPr>
          <p:cNvPr id="6" name="Text 4"/>
          <p:cNvSpPr/>
          <p:nvPr/>
        </p:nvSpPr>
        <p:spPr>
          <a:xfrm>
            <a:off x="548640" y="2971800"/>
            <a:ext cx="5486400" cy="320040"/>
          </a:xfrm>
          <a:prstGeom prst="rect">
            <a:avLst/>
          </a:prstGeom>
          <a:noFill/>
          <a:ln/>
        </p:spPr>
        <p:txBody>
          <a:bodyPr wrap="square" rtlCol="0" anchor="ctr"/>
          <a:lstStyle/>
          <a:p>
            <a:pPr indent="0" marL="0">
              <a:buNone/>
            </a:pPr>
            <a:r>
              <a:rPr lang="en-US" sz="1300" b="1" dirty="0">
                <a:solidFill>
                  <a:srgbClr val="23262B"/>
                </a:solidFill>
                <a:latin typeface="Calibri" pitchFamily="34" charset="0"/>
                <a:ea typeface="Calibri" pitchFamily="34" charset="-122"/>
                <a:cs typeface="Calibri" pitchFamily="34" charset="-120"/>
              </a:rPr>
              <a:t>What we collect for each review:</a:t>
            </a:r>
            <a:endParaRPr lang="en-US" sz="1300" dirty="0"/>
          </a:p>
        </p:txBody>
      </p:sp>
      <p:sp>
        <p:nvSpPr>
          <p:cNvPr id="7" name="Text 5"/>
          <p:cNvSpPr/>
          <p:nvPr/>
        </p:nvSpPr>
        <p:spPr>
          <a:xfrm>
            <a:off x="640080" y="3337560"/>
            <a:ext cx="5669280" cy="1188720"/>
          </a:xfrm>
          <a:prstGeom prst="rect">
            <a:avLst/>
          </a:prstGeom>
          <a:noFill/>
          <a:ln/>
        </p:spPr>
        <p:txBody>
          <a:bodyPr wrap="square" rtlCol="0" anchor="ctr"/>
          <a:lstStyle/>
          <a:p>
            <a:pPr marL="342900" indent="-342900">
              <a:lnSpc>
                <a:spcPct val="140000"/>
              </a:lnSpc>
              <a:buSzPct val="100000"/>
              <a:buChar char="–"/>
            </a:pPr>
            <a:r>
              <a:rPr lang="en-US" sz="1300" dirty="0">
                <a:solidFill>
                  <a:srgbClr val="23262B"/>
                </a:solidFill>
                <a:latin typeface="Calibri" pitchFamily="34" charset="0"/>
                <a:ea typeface="Calibri" pitchFamily="34" charset="-122"/>
                <a:cs typeface="Calibri" pitchFamily="34" charset="-120"/>
              </a:rPr>
              <a:t>Username of the reviewer</a:t>
            </a:r>
            <a:endParaRPr lang="en-US" sz="1300" dirty="0"/>
          </a:p>
          <a:p>
            <a:pPr marL="342900" indent="-342900">
              <a:lnSpc>
                <a:spcPct val="140000"/>
              </a:lnSpc>
              <a:buSzPct val="100000"/>
              <a:buChar char="–"/>
            </a:pPr>
            <a:r>
              <a:rPr lang="en-US" sz="1300" dirty="0">
                <a:solidFill>
                  <a:srgbClr val="23262B"/>
                </a:solidFill>
                <a:latin typeface="Calibri" pitchFamily="34" charset="0"/>
                <a:ea typeface="Calibri" pitchFamily="34" charset="-122"/>
                <a:cs typeface="Calibri" pitchFamily="34" charset="-120"/>
              </a:rPr>
              <a:t>Star rating (1 to 5)</a:t>
            </a:r>
            <a:endParaRPr lang="en-US" sz="1300" dirty="0"/>
          </a:p>
          <a:p>
            <a:pPr marL="342900" indent="-342900">
              <a:lnSpc>
                <a:spcPct val="140000"/>
              </a:lnSpc>
              <a:buSzPct val="100000"/>
              <a:buChar char="–"/>
            </a:pPr>
            <a:r>
              <a:rPr lang="en-US" sz="1300" dirty="0">
                <a:solidFill>
                  <a:srgbClr val="23262B"/>
                </a:solidFill>
                <a:latin typeface="Calibri" pitchFamily="34" charset="0"/>
                <a:ea typeface="Calibri" pitchFamily="34" charset="-122"/>
                <a:cs typeface="Calibri" pitchFamily="34" charset="-120"/>
              </a:rPr>
              <a:t>Full review text</a:t>
            </a:r>
            <a:endParaRPr lang="en-US" sz="1300" dirty="0"/>
          </a:p>
        </p:txBody>
      </p:sp>
      <p:sp>
        <p:nvSpPr>
          <p:cNvPr id="8" name="Shape 6"/>
          <p:cNvSpPr/>
          <p:nvPr/>
        </p:nvSpPr>
        <p:spPr>
          <a:xfrm>
            <a:off x="7452360" y="1554480"/>
            <a:ext cx="4206240" cy="4480560"/>
          </a:xfrm>
          <a:prstGeom prst="rect">
            <a:avLst/>
          </a:prstGeom>
          <a:solidFill>
            <a:srgbClr val="F1F3F6"/>
          </a:solidFill>
          <a:ln w="12700">
            <a:solidFill>
              <a:srgbClr val="D9DCE1"/>
            </a:solidFill>
            <a:prstDash val="solid"/>
          </a:ln>
        </p:spPr>
      </p:sp>
      <p:sp>
        <p:nvSpPr>
          <p:cNvPr id="9" name="Text 7"/>
          <p:cNvSpPr/>
          <p:nvPr/>
        </p:nvSpPr>
        <p:spPr>
          <a:xfrm>
            <a:off x="7680960" y="1737360"/>
            <a:ext cx="3657600" cy="320040"/>
          </a:xfrm>
          <a:prstGeom prst="rect">
            <a:avLst/>
          </a:prstGeom>
          <a:noFill/>
          <a:ln/>
        </p:spPr>
        <p:txBody>
          <a:bodyPr wrap="square" rtlCol="0" anchor="ctr"/>
          <a:lstStyle/>
          <a:p>
            <a:pPr indent="0" marL="0">
              <a:buNone/>
            </a:pPr>
            <a:r>
              <a:rPr lang="en-US" sz="1300" b="1" dirty="0">
                <a:solidFill>
                  <a:srgbClr val="2E5AAC"/>
                </a:solidFill>
                <a:latin typeface="Calibri" pitchFamily="34" charset="0"/>
                <a:ea typeface="Calibri" pitchFamily="34" charset="-122"/>
                <a:cs typeface="Calibri" pitchFamily="34" charset="-120"/>
              </a:rPr>
              <a:t>Project stages</a:t>
            </a:r>
            <a:endParaRPr lang="en-US" sz="1300" dirty="0"/>
          </a:p>
        </p:txBody>
      </p:sp>
      <p:sp>
        <p:nvSpPr>
          <p:cNvPr id="10" name="Text 8"/>
          <p:cNvSpPr/>
          <p:nvPr/>
        </p:nvSpPr>
        <p:spPr>
          <a:xfrm>
            <a:off x="7680960" y="2148840"/>
            <a:ext cx="3703320" cy="1737360"/>
          </a:xfrm>
          <a:prstGeom prst="rect">
            <a:avLst/>
          </a:prstGeom>
          <a:noFill/>
          <a:ln/>
        </p:spPr>
        <p:txBody>
          <a:bodyPr wrap="square" rtlCol="0" anchor="ctr"/>
          <a:lstStyle/>
          <a:p>
            <a:pPr indent="0" marL="0">
              <a:lnSpc>
                <a:spcPct val="155000"/>
              </a:lnSpc>
              <a:buNone/>
            </a:pPr>
            <a:r>
              <a:rPr lang="en-US" sz="1250" dirty="0">
                <a:solidFill>
                  <a:srgbClr val="23262B"/>
                </a:solidFill>
                <a:latin typeface="Calibri" pitchFamily="34" charset="0"/>
                <a:ea typeface="Calibri" pitchFamily="34" charset="-122"/>
                <a:cs typeface="Calibri" pitchFamily="34" charset="-120"/>
              </a:rPr>
              <a:t>1. Data collection (scraping)</a:t>
            </a:r>
            <a:endParaRPr lang="en-US" sz="1250" dirty="0"/>
          </a:p>
          <a:p>
            <a:pPr indent="0" marL="0">
              <a:lnSpc>
                <a:spcPct val="155000"/>
              </a:lnSpc>
              <a:buNone/>
            </a:pPr>
            <a:r>
              <a:rPr lang="en-US" sz="1250" dirty="0">
                <a:solidFill>
                  <a:srgbClr val="23262B"/>
                </a:solidFill>
                <a:latin typeface="Calibri" pitchFamily="34" charset="0"/>
                <a:ea typeface="Calibri" pitchFamily="34" charset="-122"/>
                <a:cs typeface="Calibri" pitchFamily="34" charset="-120"/>
              </a:rPr>
              <a:t>2. Data cleaning &amp; preprocessing</a:t>
            </a:r>
            <a:endParaRPr lang="en-US" sz="1250" dirty="0"/>
          </a:p>
          <a:p>
            <a:pPr indent="0" marL="0">
              <a:lnSpc>
                <a:spcPct val="155000"/>
              </a:lnSpc>
              <a:buNone/>
            </a:pPr>
            <a:r>
              <a:rPr lang="en-US" sz="1250" dirty="0">
                <a:solidFill>
                  <a:srgbClr val="23262B"/>
                </a:solidFill>
                <a:latin typeface="Calibri" pitchFamily="34" charset="0"/>
                <a:ea typeface="Calibri" pitchFamily="34" charset="-122"/>
                <a:cs typeface="Calibri" pitchFamily="34" charset="-120"/>
              </a:rPr>
              <a:t>3. Sentiment analysis (TextBlob)</a:t>
            </a:r>
            <a:endParaRPr lang="en-US" sz="1250" dirty="0"/>
          </a:p>
          <a:p>
            <a:pPr indent="0" marL="0">
              <a:lnSpc>
                <a:spcPct val="155000"/>
              </a:lnSpc>
              <a:buNone/>
            </a:pPr>
            <a:r>
              <a:rPr lang="en-US" sz="1250" dirty="0">
                <a:solidFill>
                  <a:srgbClr val="23262B"/>
                </a:solidFill>
                <a:latin typeface="Calibri" pitchFamily="34" charset="0"/>
                <a:ea typeface="Calibri" pitchFamily="34" charset="-122"/>
                <a:cs typeface="Calibri" pitchFamily="34" charset="-120"/>
              </a:rPr>
              <a:t>4. Data analysis &amp; visualization</a:t>
            </a:r>
            <a:endParaRPr lang="en-US" sz="1250" dirty="0"/>
          </a:p>
          <a:p>
            <a:pPr indent="0" marL="0">
              <a:lnSpc>
                <a:spcPct val="155000"/>
              </a:lnSpc>
              <a:buNone/>
            </a:pPr>
            <a:r>
              <a:rPr lang="en-US" sz="1250" dirty="0">
                <a:solidFill>
                  <a:srgbClr val="23262B"/>
                </a:solidFill>
                <a:latin typeface="Calibri" pitchFamily="34" charset="0"/>
                <a:ea typeface="Calibri" pitchFamily="34" charset="-122"/>
                <a:cs typeface="Calibri" pitchFamily="34" charset="-120"/>
              </a:rPr>
              <a:t>5. Reporting &amp; recommendations</a:t>
            </a:r>
            <a:endParaRPr lang="en-US" sz="1250" dirty="0"/>
          </a:p>
        </p:txBody>
      </p:sp>
      <p:sp>
        <p:nvSpPr>
          <p:cNvPr id="11" name="Text 9"/>
          <p:cNvSpPr/>
          <p:nvPr/>
        </p:nvSpPr>
        <p:spPr>
          <a:xfrm>
            <a:off x="7680960" y="4937760"/>
            <a:ext cx="3703320" cy="822960"/>
          </a:xfrm>
          <a:prstGeom prst="rect">
            <a:avLst/>
          </a:prstGeom>
          <a:noFill/>
          <a:ln/>
        </p:spPr>
        <p:txBody>
          <a:bodyPr wrap="square" rtlCol="0" anchor="ctr"/>
          <a:lstStyle/>
          <a:p>
            <a:pPr indent="0" marL="0">
              <a:lnSpc>
                <a:spcPct val="130000"/>
              </a:lnSpc>
              <a:buNone/>
            </a:pPr>
            <a:r>
              <a:rPr lang="en-US" sz="1150" i="1" dirty="0">
                <a:solidFill>
                  <a:srgbClr val="6B7280"/>
                </a:solidFill>
                <a:latin typeface="Calibri" pitchFamily="34" charset="0"/>
                <a:ea typeface="Calibri" pitchFamily="34" charset="-122"/>
                <a:cs typeface="Calibri" pitchFamily="34" charset="-120"/>
              </a:rPr>
              <a:t>Target: 300+ reviews, cleaned and labelled Positive / Negative.</a:t>
            </a:r>
            <a:endParaRPr lang="en-US" sz="1150" dirty="0"/>
          </a:p>
        </p:txBody>
      </p:sp>
      <p:sp>
        <p:nvSpPr>
          <p:cNvPr id="12" name="Text 10"/>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3" name="Text 11"/>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Tools &amp; Libraries Used</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Shape 3"/>
          <p:cNvSpPr/>
          <p:nvPr/>
        </p:nvSpPr>
        <p:spPr>
          <a:xfrm>
            <a:off x="548640" y="1600200"/>
            <a:ext cx="11064240" cy="758952"/>
          </a:xfrm>
          <a:prstGeom prst="rect">
            <a:avLst/>
          </a:prstGeom>
          <a:solidFill>
            <a:srgbClr val="F1F3F6"/>
          </a:solidFill>
          <a:ln/>
        </p:spPr>
      </p:sp>
      <p:sp>
        <p:nvSpPr>
          <p:cNvPr id="6" name="Text 4"/>
          <p:cNvSpPr/>
          <p:nvPr/>
        </p:nvSpPr>
        <p:spPr>
          <a:xfrm>
            <a:off x="822960" y="1600200"/>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Selenium</a:t>
            </a:r>
            <a:endParaRPr lang="en-US" sz="1400" dirty="0"/>
          </a:p>
        </p:txBody>
      </p:sp>
      <p:sp>
        <p:nvSpPr>
          <p:cNvPr id="7" name="Text 5"/>
          <p:cNvSpPr/>
          <p:nvPr/>
        </p:nvSpPr>
        <p:spPr>
          <a:xfrm>
            <a:off x="3931920" y="1600200"/>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Automates the browser to load Flipkart's review pages</a:t>
            </a:r>
            <a:endParaRPr lang="en-US" sz="1250" dirty="0"/>
          </a:p>
        </p:txBody>
      </p:sp>
      <p:sp>
        <p:nvSpPr>
          <p:cNvPr id="8" name="Text 6"/>
          <p:cNvSpPr/>
          <p:nvPr/>
        </p:nvSpPr>
        <p:spPr>
          <a:xfrm>
            <a:off x="822960" y="2359152"/>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BeautifulSoup</a:t>
            </a:r>
            <a:endParaRPr lang="en-US" sz="1400" dirty="0"/>
          </a:p>
        </p:txBody>
      </p:sp>
      <p:sp>
        <p:nvSpPr>
          <p:cNvPr id="9" name="Text 7"/>
          <p:cNvSpPr/>
          <p:nvPr/>
        </p:nvSpPr>
        <p:spPr>
          <a:xfrm>
            <a:off x="3931920" y="2359152"/>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Parses page HTML to pull name, rating &amp; review text</a:t>
            </a:r>
            <a:endParaRPr lang="en-US" sz="1250" dirty="0"/>
          </a:p>
        </p:txBody>
      </p:sp>
      <p:sp>
        <p:nvSpPr>
          <p:cNvPr id="10" name="Shape 8"/>
          <p:cNvSpPr/>
          <p:nvPr/>
        </p:nvSpPr>
        <p:spPr>
          <a:xfrm>
            <a:off x="548640" y="3118104"/>
            <a:ext cx="11064240" cy="758952"/>
          </a:xfrm>
          <a:prstGeom prst="rect">
            <a:avLst/>
          </a:prstGeom>
          <a:solidFill>
            <a:srgbClr val="F1F3F6"/>
          </a:solidFill>
          <a:ln/>
        </p:spPr>
      </p:sp>
      <p:sp>
        <p:nvSpPr>
          <p:cNvPr id="11" name="Text 9"/>
          <p:cNvSpPr/>
          <p:nvPr/>
        </p:nvSpPr>
        <p:spPr>
          <a:xfrm>
            <a:off x="822960" y="3118104"/>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Pandas / NumPy</a:t>
            </a:r>
            <a:endParaRPr lang="en-US" sz="1400" dirty="0"/>
          </a:p>
        </p:txBody>
      </p:sp>
      <p:sp>
        <p:nvSpPr>
          <p:cNvPr id="12" name="Text 10"/>
          <p:cNvSpPr/>
          <p:nvPr/>
        </p:nvSpPr>
        <p:spPr>
          <a:xfrm>
            <a:off x="3931920" y="3118104"/>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Cleans data, removes duplicates, handles missing values</a:t>
            </a:r>
            <a:endParaRPr lang="en-US" sz="1250" dirty="0"/>
          </a:p>
        </p:txBody>
      </p:sp>
      <p:sp>
        <p:nvSpPr>
          <p:cNvPr id="13" name="Text 11"/>
          <p:cNvSpPr/>
          <p:nvPr/>
        </p:nvSpPr>
        <p:spPr>
          <a:xfrm>
            <a:off x="822960" y="3877056"/>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NLTK</a:t>
            </a:r>
            <a:endParaRPr lang="en-US" sz="1400" dirty="0"/>
          </a:p>
        </p:txBody>
      </p:sp>
      <p:sp>
        <p:nvSpPr>
          <p:cNvPr id="14" name="Text 12"/>
          <p:cNvSpPr/>
          <p:nvPr/>
        </p:nvSpPr>
        <p:spPr>
          <a:xfrm>
            <a:off x="3931920" y="3877056"/>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Tokenization, stop-word removal, lemmatization</a:t>
            </a:r>
            <a:endParaRPr lang="en-US" sz="1250" dirty="0"/>
          </a:p>
        </p:txBody>
      </p:sp>
      <p:sp>
        <p:nvSpPr>
          <p:cNvPr id="15" name="Shape 13"/>
          <p:cNvSpPr/>
          <p:nvPr/>
        </p:nvSpPr>
        <p:spPr>
          <a:xfrm>
            <a:off x="548640" y="4636008"/>
            <a:ext cx="11064240" cy="758952"/>
          </a:xfrm>
          <a:prstGeom prst="rect">
            <a:avLst/>
          </a:prstGeom>
          <a:solidFill>
            <a:srgbClr val="F1F3F6"/>
          </a:solidFill>
          <a:ln/>
        </p:spPr>
      </p:sp>
      <p:sp>
        <p:nvSpPr>
          <p:cNvPr id="16" name="Text 14"/>
          <p:cNvSpPr/>
          <p:nvPr/>
        </p:nvSpPr>
        <p:spPr>
          <a:xfrm>
            <a:off x="822960" y="4636008"/>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TextBlob</a:t>
            </a:r>
            <a:endParaRPr lang="en-US" sz="1400" dirty="0"/>
          </a:p>
        </p:txBody>
      </p:sp>
      <p:sp>
        <p:nvSpPr>
          <p:cNvPr id="17" name="Text 15"/>
          <p:cNvSpPr/>
          <p:nvPr/>
        </p:nvSpPr>
        <p:spPr>
          <a:xfrm>
            <a:off x="3931920" y="4636008"/>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Gives a polarity score to classify sentiment</a:t>
            </a:r>
            <a:endParaRPr lang="en-US" sz="1250" dirty="0"/>
          </a:p>
        </p:txBody>
      </p:sp>
      <p:sp>
        <p:nvSpPr>
          <p:cNvPr id="18" name="Text 16"/>
          <p:cNvSpPr/>
          <p:nvPr/>
        </p:nvSpPr>
        <p:spPr>
          <a:xfrm>
            <a:off x="822960" y="5394960"/>
            <a:ext cx="2926080" cy="758952"/>
          </a:xfrm>
          <a:prstGeom prst="rect">
            <a:avLst/>
          </a:prstGeom>
          <a:noFill/>
          <a:ln/>
        </p:spPr>
        <p:txBody>
          <a:bodyPr wrap="square" rtlCol="0" anchor="ctr"/>
          <a:lstStyle/>
          <a:p>
            <a:pPr indent="0" marL="0">
              <a:buNone/>
            </a:pPr>
            <a:r>
              <a:rPr lang="en-US" sz="1400" b="1" dirty="0">
                <a:solidFill>
                  <a:srgbClr val="2E5AAC"/>
                </a:solidFill>
                <a:latin typeface="Calibri" pitchFamily="34" charset="0"/>
                <a:ea typeface="Calibri" pitchFamily="34" charset="-122"/>
                <a:cs typeface="Calibri" pitchFamily="34" charset="-120"/>
              </a:rPr>
              <a:t>Matplotlib / Seaborn</a:t>
            </a:r>
            <a:endParaRPr lang="en-US" sz="1400" dirty="0"/>
          </a:p>
        </p:txBody>
      </p:sp>
      <p:sp>
        <p:nvSpPr>
          <p:cNvPr id="19" name="Text 17"/>
          <p:cNvSpPr/>
          <p:nvPr/>
        </p:nvSpPr>
        <p:spPr>
          <a:xfrm>
            <a:off x="3931920" y="5394960"/>
            <a:ext cx="7498080" cy="758952"/>
          </a:xfrm>
          <a:prstGeom prst="rect">
            <a:avLst/>
          </a:prstGeom>
          <a:noFill/>
          <a:ln/>
        </p:spPr>
        <p:txBody>
          <a:bodyPr wrap="square" rtlCol="0" anchor="ctr"/>
          <a:lstStyle/>
          <a:p>
            <a:pPr indent="0" marL="0">
              <a:buNone/>
            </a:pPr>
            <a:r>
              <a:rPr lang="en-US" sz="1250" dirty="0">
                <a:solidFill>
                  <a:srgbClr val="23262B"/>
                </a:solidFill>
                <a:latin typeface="Calibri" pitchFamily="34" charset="0"/>
                <a:ea typeface="Calibri" pitchFamily="34" charset="-122"/>
                <a:cs typeface="Calibri" pitchFamily="34" charset="-120"/>
              </a:rPr>
              <a:t>Charts for distribution, correlation, word frequency</a:t>
            </a:r>
            <a:endParaRPr lang="en-US" sz="1250" dirty="0"/>
          </a:p>
        </p:txBody>
      </p:sp>
      <p:sp>
        <p:nvSpPr>
          <p:cNvPr id="20" name="Text 18"/>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21" name="Text 19"/>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Project Workflow</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Shape 3"/>
          <p:cNvSpPr/>
          <p:nvPr/>
        </p:nvSpPr>
        <p:spPr>
          <a:xfrm>
            <a:off x="548640" y="2194560"/>
            <a:ext cx="2035454" cy="2651760"/>
          </a:xfrm>
          <a:prstGeom prst="rect">
            <a:avLst/>
          </a:prstGeom>
          <a:solidFill>
            <a:srgbClr val="F1F3F6"/>
          </a:solidFill>
          <a:ln w="12700">
            <a:solidFill>
              <a:srgbClr val="D9DCE1"/>
            </a:solidFill>
            <a:prstDash val="solid"/>
          </a:ln>
        </p:spPr>
      </p:sp>
      <p:sp>
        <p:nvSpPr>
          <p:cNvPr id="6" name="Text 4"/>
          <p:cNvSpPr/>
          <p:nvPr/>
        </p:nvSpPr>
        <p:spPr>
          <a:xfrm>
            <a:off x="713232" y="2331720"/>
            <a:ext cx="914400" cy="548640"/>
          </a:xfrm>
          <a:prstGeom prst="rect">
            <a:avLst/>
          </a:prstGeom>
          <a:noFill/>
          <a:ln/>
        </p:spPr>
        <p:txBody>
          <a:bodyPr wrap="square" rtlCol="0" anchor="ctr"/>
          <a:lstStyle/>
          <a:p>
            <a:pPr indent="0" marL="0">
              <a:buNone/>
            </a:pPr>
            <a:r>
              <a:rPr lang="en-US" sz="2400" b="1" dirty="0">
                <a:solidFill>
                  <a:srgbClr val="C3C9D1"/>
                </a:solidFill>
                <a:latin typeface="Calibri" pitchFamily="34" charset="0"/>
                <a:ea typeface="Calibri" pitchFamily="34" charset="-122"/>
                <a:cs typeface="Calibri" pitchFamily="34" charset="-120"/>
              </a:rPr>
              <a:t>1</a:t>
            </a:r>
            <a:endParaRPr lang="en-US" sz="2400" dirty="0"/>
          </a:p>
        </p:txBody>
      </p:sp>
      <p:sp>
        <p:nvSpPr>
          <p:cNvPr id="7" name="Text 5"/>
          <p:cNvSpPr/>
          <p:nvPr/>
        </p:nvSpPr>
        <p:spPr>
          <a:xfrm>
            <a:off x="713232" y="2880360"/>
            <a:ext cx="1706270" cy="365760"/>
          </a:xfrm>
          <a:prstGeom prst="rect">
            <a:avLst/>
          </a:prstGeom>
          <a:noFill/>
          <a:ln/>
        </p:spPr>
        <p:txBody>
          <a:bodyPr wrap="square" rtlCol="0" anchor="ctr"/>
          <a:lstStyle/>
          <a:p>
            <a:pPr indent="0" marL="0">
              <a:buNone/>
            </a:pPr>
            <a:r>
              <a:rPr lang="en-US" sz="1500" b="1" dirty="0">
                <a:solidFill>
                  <a:srgbClr val="23262B"/>
                </a:solidFill>
                <a:latin typeface="Calibri" pitchFamily="34" charset="0"/>
                <a:ea typeface="Calibri" pitchFamily="34" charset="-122"/>
                <a:cs typeface="Calibri" pitchFamily="34" charset="-120"/>
              </a:rPr>
              <a:t>Collect</a:t>
            </a:r>
            <a:endParaRPr lang="en-US" sz="1500" dirty="0"/>
          </a:p>
        </p:txBody>
      </p:sp>
      <p:sp>
        <p:nvSpPr>
          <p:cNvPr id="8" name="Text 6"/>
          <p:cNvSpPr/>
          <p:nvPr/>
        </p:nvSpPr>
        <p:spPr>
          <a:xfrm>
            <a:off x="713232" y="3291840"/>
            <a:ext cx="1706270" cy="1371600"/>
          </a:xfrm>
          <a:prstGeom prst="rect">
            <a:avLst/>
          </a:prstGeom>
          <a:noFill/>
          <a:ln/>
        </p:spPr>
        <p:txBody>
          <a:bodyPr wrap="square" rtlCol="0" anchor="ctr"/>
          <a:lstStyle/>
          <a:p>
            <a:pPr indent="0" marL="0">
              <a:lnSpc>
                <a:spcPct val="130000"/>
              </a:lnSpc>
              <a:buNone/>
            </a:pPr>
            <a:r>
              <a:rPr lang="en-US" sz="1080" dirty="0">
                <a:solidFill>
                  <a:srgbClr val="6B7280"/>
                </a:solidFill>
                <a:latin typeface="Calibri" pitchFamily="34" charset="0"/>
                <a:ea typeface="Calibri" pitchFamily="34" charset="-122"/>
                <a:cs typeface="Calibri" pitchFamily="34" charset="-120"/>
              </a:rPr>
              <a:t>Scrape reviews with Selenium + BeautifulSoup</a:t>
            </a:r>
            <a:endParaRPr lang="en-US" sz="1080" dirty="0"/>
          </a:p>
        </p:txBody>
      </p:sp>
      <p:sp>
        <p:nvSpPr>
          <p:cNvPr id="9" name="Text 7"/>
          <p:cNvSpPr/>
          <p:nvPr/>
        </p:nvSpPr>
        <p:spPr>
          <a:xfrm>
            <a:off x="2538374" y="3200400"/>
            <a:ext cx="365760" cy="365760"/>
          </a:xfrm>
          <a:prstGeom prst="rect">
            <a:avLst/>
          </a:prstGeom>
          <a:noFill/>
          <a:ln/>
        </p:spPr>
        <p:txBody>
          <a:bodyPr wrap="square" rtlCol="0" anchor="ctr"/>
          <a:lstStyle/>
          <a:p>
            <a:pPr algn="ctr" indent="0" marL="0">
              <a:buNone/>
            </a:pPr>
            <a:r>
              <a:rPr lang="en-US" sz="1600" dirty="0">
                <a:solidFill>
                  <a:srgbClr val="2E5AAC"/>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2812694" y="2194560"/>
            <a:ext cx="2035454" cy="2651760"/>
          </a:xfrm>
          <a:prstGeom prst="rect">
            <a:avLst/>
          </a:prstGeom>
          <a:solidFill>
            <a:srgbClr val="F1F3F6"/>
          </a:solidFill>
          <a:ln w="12700">
            <a:solidFill>
              <a:srgbClr val="D9DCE1"/>
            </a:solidFill>
            <a:prstDash val="solid"/>
          </a:ln>
        </p:spPr>
      </p:sp>
      <p:sp>
        <p:nvSpPr>
          <p:cNvPr id="11" name="Text 9"/>
          <p:cNvSpPr/>
          <p:nvPr/>
        </p:nvSpPr>
        <p:spPr>
          <a:xfrm>
            <a:off x="2977286" y="2331720"/>
            <a:ext cx="914400" cy="548640"/>
          </a:xfrm>
          <a:prstGeom prst="rect">
            <a:avLst/>
          </a:prstGeom>
          <a:noFill/>
          <a:ln/>
        </p:spPr>
        <p:txBody>
          <a:bodyPr wrap="square" rtlCol="0" anchor="ctr"/>
          <a:lstStyle/>
          <a:p>
            <a:pPr indent="0" marL="0">
              <a:buNone/>
            </a:pPr>
            <a:r>
              <a:rPr lang="en-US" sz="2400" b="1" dirty="0">
                <a:solidFill>
                  <a:srgbClr val="C3C9D1"/>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2977286" y="2880360"/>
            <a:ext cx="1706270" cy="365760"/>
          </a:xfrm>
          <a:prstGeom prst="rect">
            <a:avLst/>
          </a:prstGeom>
          <a:noFill/>
          <a:ln/>
        </p:spPr>
        <p:txBody>
          <a:bodyPr wrap="square" rtlCol="0" anchor="ctr"/>
          <a:lstStyle/>
          <a:p>
            <a:pPr indent="0" marL="0">
              <a:buNone/>
            </a:pPr>
            <a:r>
              <a:rPr lang="en-US" sz="1500" b="1" dirty="0">
                <a:solidFill>
                  <a:srgbClr val="23262B"/>
                </a:solidFill>
                <a:latin typeface="Calibri" pitchFamily="34" charset="0"/>
                <a:ea typeface="Calibri" pitchFamily="34" charset="-122"/>
                <a:cs typeface="Calibri" pitchFamily="34" charset="-120"/>
              </a:rPr>
              <a:t>Clean</a:t>
            </a:r>
            <a:endParaRPr lang="en-US" sz="1500" dirty="0"/>
          </a:p>
        </p:txBody>
      </p:sp>
      <p:sp>
        <p:nvSpPr>
          <p:cNvPr id="13" name="Text 11"/>
          <p:cNvSpPr/>
          <p:nvPr/>
        </p:nvSpPr>
        <p:spPr>
          <a:xfrm>
            <a:off x="2977286" y="3291840"/>
            <a:ext cx="1706270" cy="1371600"/>
          </a:xfrm>
          <a:prstGeom prst="rect">
            <a:avLst/>
          </a:prstGeom>
          <a:noFill/>
          <a:ln/>
        </p:spPr>
        <p:txBody>
          <a:bodyPr wrap="square" rtlCol="0" anchor="ctr"/>
          <a:lstStyle/>
          <a:p>
            <a:pPr indent="0" marL="0">
              <a:lnSpc>
                <a:spcPct val="130000"/>
              </a:lnSpc>
              <a:buNone/>
            </a:pPr>
            <a:r>
              <a:rPr lang="en-US" sz="1080" dirty="0">
                <a:solidFill>
                  <a:srgbClr val="6B7280"/>
                </a:solidFill>
                <a:latin typeface="Calibri" pitchFamily="34" charset="0"/>
                <a:ea typeface="Calibri" pitchFamily="34" charset="-122"/>
                <a:cs typeface="Calibri" pitchFamily="34" charset="-120"/>
              </a:rPr>
              <a:t>Remove duplicates, handle missing data, normalize text</a:t>
            </a:r>
            <a:endParaRPr lang="en-US" sz="1080" dirty="0"/>
          </a:p>
        </p:txBody>
      </p:sp>
      <p:sp>
        <p:nvSpPr>
          <p:cNvPr id="14" name="Text 12"/>
          <p:cNvSpPr/>
          <p:nvPr/>
        </p:nvSpPr>
        <p:spPr>
          <a:xfrm>
            <a:off x="4802429" y="3200400"/>
            <a:ext cx="365760" cy="365760"/>
          </a:xfrm>
          <a:prstGeom prst="rect">
            <a:avLst/>
          </a:prstGeom>
          <a:noFill/>
          <a:ln/>
        </p:spPr>
        <p:txBody>
          <a:bodyPr wrap="square" rtlCol="0" anchor="ctr"/>
          <a:lstStyle/>
          <a:p>
            <a:pPr algn="ctr" indent="0" marL="0">
              <a:buNone/>
            </a:pPr>
            <a:r>
              <a:rPr lang="en-US" sz="1600" dirty="0">
                <a:solidFill>
                  <a:srgbClr val="2E5AAC"/>
                </a:solidFill>
                <a:latin typeface="Arial" pitchFamily="34" charset="0"/>
                <a:ea typeface="Arial" pitchFamily="34" charset="-122"/>
                <a:cs typeface="Arial" pitchFamily="34" charset="-120"/>
              </a:rPr>
              <a:t>→</a:t>
            </a:r>
            <a:endParaRPr lang="en-US" sz="1600" dirty="0"/>
          </a:p>
        </p:txBody>
      </p:sp>
      <p:sp>
        <p:nvSpPr>
          <p:cNvPr id="15" name="Shape 13"/>
          <p:cNvSpPr/>
          <p:nvPr/>
        </p:nvSpPr>
        <p:spPr>
          <a:xfrm>
            <a:off x="5076749" y="2194560"/>
            <a:ext cx="2035454" cy="2651760"/>
          </a:xfrm>
          <a:prstGeom prst="rect">
            <a:avLst/>
          </a:prstGeom>
          <a:solidFill>
            <a:srgbClr val="F1F3F6"/>
          </a:solidFill>
          <a:ln w="12700">
            <a:solidFill>
              <a:srgbClr val="D9DCE1"/>
            </a:solidFill>
            <a:prstDash val="solid"/>
          </a:ln>
        </p:spPr>
      </p:sp>
      <p:sp>
        <p:nvSpPr>
          <p:cNvPr id="16" name="Text 14"/>
          <p:cNvSpPr/>
          <p:nvPr/>
        </p:nvSpPr>
        <p:spPr>
          <a:xfrm>
            <a:off x="5241341" y="2331720"/>
            <a:ext cx="914400" cy="548640"/>
          </a:xfrm>
          <a:prstGeom prst="rect">
            <a:avLst/>
          </a:prstGeom>
          <a:noFill/>
          <a:ln/>
        </p:spPr>
        <p:txBody>
          <a:bodyPr wrap="square" rtlCol="0" anchor="ctr"/>
          <a:lstStyle/>
          <a:p>
            <a:pPr indent="0" marL="0">
              <a:buNone/>
            </a:pPr>
            <a:r>
              <a:rPr lang="en-US" sz="2400" b="1" dirty="0">
                <a:solidFill>
                  <a:srgbClr val="C3C9D1"/>
                </a:solidFill>
                <a:latin typeface="Calibri" pitchFamily="34" charset="0"/>
                <a:ea typeface="Calibri" pitchFamily="34" charset="-122"/>
                <a:cs typeface="Calibri" pitchFamily="34" charset="-120"/>
              </a:rPr>
              <a:t>3</a:t>
            </a:r>
            <a:endParaRPr lang="en-US" sz="2400" dirty="0"/>
          </a:p>
        </p:txBody>
      </p:sp>
      <p:sp>
        <p:nvSpPr>
          <p:cNvPr id="17" name="Text 15"/>
          <p:cNvSpPr/>
          <p:nvPr/>
        </p:nvSpPr>
        <p:spPr>
          <a:xfrm>
            <a:off x="5241341" y="2880360"/>
            <a:ext cx="1706270" cy="365760"/>
          </a:xfrm>
          <a:prstGeom prst="rect">
            <a:avLst/>
          </a:prstGeom>
          <a:noFill/>
          <a:ln/>
        </p:spPr>
        <p:txBody>
          <a:bodyPr wrap="square" rtlCol="0" anchor="ctr"/>
          <a:lstStyle/>
          <a:p>
            <a:pPr indent="0" marL="0">
              <a:buNone/>
            </a:pPr>
            <a:r>
              <a:rPr lang="en-US" sz="1500" b="1" dirty="0">
                <a:solidFill>
                  <a:srgbClr val="23262B"/>
                </a:solidFill>
                <a:latin typeface="Calibri" pitchFamily="34" charset="0"/>
                <a:ea typeface="Calibri" pitchFamily="34" charset="-122"/>
                <a:cs typeface="Calibri" pitchFamily="34" charset="-120"/>
              </a:rPr>
              <a:t>Analyze</a:t>
            </a:r>
            <a:endParaRPr lang="en-US" sz="1500" dirty="0"/>
          </a:p>
        </p:txBody>
      </p:sp>
      <p:sp>
        <p:nvSpPr>
          <p:cNvPr id="18" name="Text 16"/>
          <p:cNvSpPr/>
          <p:nvPr/>
        </p:nvSpPr>
        <p:spPr>
          <a:xfrm>
            <a:off x="5241341" y="3291840"/>
            <a:ext cx="1706270" cy="1371600"/>
          </a:xfrm>
          <a:prstGeom prst="rect">
            <a:avLst/>
          </a:prstGeom>
          <a:noFill/>
          <a:ln/>
        </p:spPr>
        <p:txBody>
          <a:bodyPr wrap="square" rtlCol="0" anchor="ctr"/>
          <a:lstStyle/>
          <a:p>
            <a:pPr indent="0" marL="0">
              <a:lnSpc>
                <a:spcPct val="130000"/>
              </a:lnSpc>
              <a:buNone/>
            </a:pPr>
            <a:r>
              <a:rPr lang="en-US" sz="1080" dirty="0">
                <a:solidFill>
                  <a:srgbClr val="6B7280"/>
                </a:solidFill>
                <a:latin typeface="Calibri" pitchFamily="34" charset="0"/>
                <a:ea typeface="Calibri" pitchFamily="34" charset="-122"/>
                <a:cs typeface="Calibri" pitchFamily="34" charset="-120"/>
              </a:rPr>
              <a:t>Score each review's sentiment with TextBlob</a:t>
            </a:r>
            <a:endParaRPr lang="en-US" sz="1080" dirty="0"/>
          </a:p>
        </p:txBody>
      </p:sp>
      <p:sp>
        <p:nvSpPr>
          <p:cNvPr id="19" name="Text 17"/>
          <p:cNvSpPr/>
          <p:nvPr/>
        </p:nvSpPr>
        <p:spPr>
          <a:xfrm>
            <a:off x="7066483" y="3200400"/>
            <a:ext cx="365760" cy="365760"/>
          </a:xfrm>
          <a:prstGeom prst="rect">
            <a:avLst/>
          </a:prstGeom>
          <a:noFill/>
          <a:ln/>
        </p:spPr>
        <p:txBody>
          <a:bodyPr wrap="square" rtlCol="0" anchor="ctr"/>
          <a:lstStyle/>
          <a:p>
            <a:pPr algn="ctr" indent="0" marL="0">
              <a:buNone/>
            </a:pPr>
            <a:r>
              <a:rPr lang="en-US" sz="1600" dirty="0">
                <a:solidFill>
                  <a:srgbClr val="2E5AAC"/>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7340803" y="2194560"/>
            <a:ext cx="2035454" cy="2651760"/>
          </a:xfrm>
          <a:prstGeom prst="rect">
            <a:avLst/>
          </a:prstGeom>
          <a:solidFill>
            <a:srgbClr val="F1F3F6"/>
          </a:solidFill>
          <a:ln w="12700">
            <a:solidFill>
              <a:srgbClr val="D9DCE1"/>
            </a:solidFill>
            <a:prstDash val="solid"/>
          </a:ln>
        </p:spPr>
      </p:sp>
      <p:sp>
        <p:nvSpPr>
          <p:cNvPr id="21" name="Text 19"/>
          <p:cNvSpPr/>
          <p:nvPr/>
        </p:nvSpPr>
        <p:spPr>
          <a:xfrm>
            <a:off x="7505395" y="2331720"/>
            <a:ext cx="914400" cy="548640"/>
          </a:xfrm>
          <a:prstGeom prst="rect">
            <a:avLst/>
          </a:prstGeom>
          <a:noFill/>
          <a:ln/>
        </p:spPr>
        <p:txBody>
          <a:bodyPr wrap="square" rtlCol="0" anchor="ctr"/>
          <a:lstStyle/>
          <a:p>
            <a:pPr indent="0" marL="0">
              <a:buNone/>
            </a:pPr>
            <a:r>
              <a:rPr lang="en-US" sz="2400" b="1" dirty="0">
                <a:solidFill>
                  <a:srgbClr val="C3C9D1"/>
                </a:solidFill>
                <a:latin typeface="Calibri" pitchFamily="34" charset="0"/>
                <a:ea typeface="Calibri" pitchFamily="34" charset="-122"/>
                <a:cs typeface="Calibri" pitchFamily="34" charset="-120"/>
              </a:rPr>
              <a:t>4</a:t>
            </a:r>
            <a:endParaRPr lang="en-US" sz="2400" dirty="0"/>
          </a:p>
        </p:txBody>
      </p:sp>
      <p:sp>
        <p:nvSpPr>
          <p:cNvPr id="22" name="Text 20"/>
          <p:cNvSpPr/>
          <p:nvPr/>
        </p:nvSpPr>
        <p:spPr>
          <a:xfrm>
            <a:off x="7505395" y="2880360"/>
            <a:ext cx="1706270" cy="365760"/>
          </a:xfrm>
          <a:prstGeom prst="rect">
            <a:avLst/>
          </a:prstGeom>
          <a:noFill/>
          <a:ln/>
        </p:spPr>
        <p:txBody>
          <a:bodyPr wrap="square" rtlCol="0" anchor="ctr"/>
          <a:lstStyle/>
          <a:p>
            <a:pPr indent="0" marL="0">
              <a:buNone/>
            </a:pPr>
            <a:r>
              <a:rPr lang="en-US" sz="1500" b="1" dirty="0">
                <a:solidFill>
                  <a:srgbClr val="23262B"/>
                </a:solidFill>
                <a:latin typeface="Calibri" pitchFamily="34" charset="0"/>
                <a:ea typeface="Calibri" pitchFamily="34" charset="-122"/>
                <a:cs typeface="Calibri" pitchFamily="34" charset="-120"/>
              </a:rPr>
              <a:t>Visualize</a:t>
            </a:r>
            <a:endParaRPr lang="en-US" sz="1500" dirty="0"/>
          </a:p>
        </p:txBody>
      </p:sp>
      <p:sp>
        <p:nvSpPr>
          <p:cNvPr id="23" name="Text 21"/>
          <p:cNvSpPr/>
          <p:nvPr/>
        </p:nvSpPr>
        <p:spPr>
          <a:xfrm>
            <a:off x="7505395" y="3291840"/>
            <a:ext cx="1706270" cy="1371600"/>
          </a:xfrm>
          <a:prstGeom prst="rect">
            <a:avLst/>
          </a:prstGeom>
          <a:noFill/>
          <a:ln/>
        </p:spPr>
        <p:txBody>
          <a:bodyPr wrap="square" rtlCol="0" anchor="ctr"/>
          <a:lstStyle/>
          <a:p>
            <a:pPr indent="0" marL="0">
              <a:lnSpc>
                <a:spcPct val="130000"/>
              </a:lnSpc>
              <a:buNone/>
            </a:pPr>
            <a:r>
              <a:rPr lang="en-US" sz="1080" dirty="0">
                <a:solidFill>
                  <a:srgbClr val="6B7280"/>
                </a:solidFill>
                <a:latin typeface="Calibri" pitchFamily="34" charset="0"/>
                <a:ea typeface="Calibri" pitchFamily="34" charset="-122"/>
                <a:cs typeface="Calibri" pitchFamily="34" charset="-120"/>
              </a:rPr>
              <a:t>Plot distribution, rating correlation, word frequency</a:t>
            </a:r>
            <a:endParaRPr lang="en-US" sz="1080" dirty="0"/>
          </a:p>
        </p:txBody>
      </p:sp>
      <p:sp>
        <p:nvSpPr>
          <p:cNvPr id="24" name="Text 22"/>
          <p:cNvSpPr/>
          <p:nvPr/>
        </p:nvSpPr>
        <p:spPr>
          <a:xfrm>
            <a:off x="9330538" y="3200400"/>
            <a:ext cx="365760" cy="365760"/>
          </a:xfrm>
          <a:prstGeom prst="rect">
            <a:avLst/>
          </a:prstGeom>
          <a:noFill/>
          <a:ln/>
        </p:spPr>
        <p:txBody>
          <a:bodyPr wrap="square" rtlCol="0" anchor="ctr"/>
          <a:lstStyle/>
          <a:p>
            <a:pPr algn="ctr" indent="0" marL="0">
              <a:buNone/>
            </a:pPr>
            <a:r>
              <a:rPr lang="en-US" sz="1600" dirty="0">
                <a:solidFill>
                  <a:srgbClr val="2E5AAC"/>
                </a:solidFill>
                <a:latin typeface="Arial" pitchFamily="34" charset="0"/>
                <a:ea typeface="Arial" pitchFamily="34" charset="-122"/>
                <a:cs typeface="Arial" pitchFamily="34" charset="-120"/>
              </a:rPr>
              <a:t>→</a:t>
            </a:r>
            <a:endParaRPr lang="en-US" sz="1600" dirty="0"/>
          </a:p>
        </p:txBody>
      </p:sp>
      <p:sp>
        <p:nvSpPr>
          <p:cNvPr id="25" name="Shape 23"/>
          <p:cNvSpPr/>
          <p:nvPr/>
        </p:nvSpPr>
        <p:spPr>
          <a:xfrm>
            <a:off x="9604858" y="2194560"/>
            <a:ext cx="2035454" cy="2651760"/>
          </a:xfrm>
          <a:prstGeom prst="rect">
            <a:avLst/>
          </a:prstGeom>
          <a:solidFill>
            <a:srgbClr val="F1F3F6"/>
          </a:solidFill>
          <a:ln w="12700">
            <a:solidFill>
              <a:srgbClr val="D9DCE1"/>
            </a:solidFill>
            <a:prstDash val="solid"/>
          </a:ln>
        </p:spPr>
      </p:sp>
      <p:sp>
        <p:nvSpPr>
          <p:cNvPr id="26" name="Text 24"/>
          <p:cNvSpPr/>
          <p:nvPr/>
        </p:nvSpPr>
        <p:spPr>
          <a:xfrm>
            <a:off x="9769450" y="2331720"/>
            <a:ext cx="914400" cy="548640"/>
          </a:xfrm>
          <a:prstGeom prst="rect">
            <a:avLst/>
          </a:prstGeom>
          <a:noFill/>
          <a:ln/>
        </p:spPr>
        <p:txBody>
          <a:bodyPr wrap="square" rtlCol="0" anchor="ctr"/>
          <a:lstStyle/>
          <a:p>
            <a:pPr indent="0" marL="0">
              <a:buNone/>
            </a:pPr>
            <a:r>
              <a:rPr lang="en-US" sz="2400" b="1" dirty="0">
                <a:solidFill>
                  <a:srgbClr val="C3C9D1"/>
                </a:solidFill>
                <a:latin typeface="Calibri" pitchFamily="34" charset="0"/>
                <a:ea typeface="Calibri" pitchFamily="34" charset="-122"/>
                <a:cs typeface="Calibri" pitchFamily="34" charset="-120"/>
              </a:rPr>
              <a:t>5</a:t>
            </a:r>
            <a:endParaRPr lang="en-US" sz="2400" dirty="0"/>
          </a:p>
        </p:txBody>
      </p:sp>
      <p:sp>
        <p:nvSpPr>
          <p:cNvPr id="27" name="Text 25"/>
          <p:cNvSpPr/>
          <p:nvPr/>
        </p:nvSpPr>
        <p:spPr>
          <a:xfrm>
            <a:off x="9769450" y="2880360"/>
            <a:ext cx="1706270" cy="365760"/>
          </a:xfrm>
          <a:prstGeom prst="rect">
            <a:avLst/>
          </a:prstGeom>
          <a:noFill/>
          <a:ln/>
        </p:spPr>
        <p:txBody>
          <a:bodyPr wrap="square" rtlCol="0" anchor="ctr"/>
          <a:lstStyle/>
          <a:p>
            <a:pPr indent="0" marL="0">
              <a:buNone/>
            </a:pPr>
            <a:r>
              <a:rPr lang="en-US" sz="1500" b="1" dirty="0">
                <a:solidFill>
                  <a:srgbClr val="23262B"/>
                </a:solidFill>
                <a:latin typeface="Calibri" pitchFamily="34" charset="0"/>
                <a:ea typeface="Calibri" pitchFamily="34" charset="-122"/>
                <a:cs typeface="Calibri" pitchFamily="34" charset="-120"/>
              </a:rPr>
              <a:t>Report</a:t>
            </a:r>
            <a:endParaRPr lang="en-US" sz="1500" dirty="0"/>
          </a:p>
        </p:txBody>
      </p:sp>
      <p:sp>
        <p:nvSpPr>
          <p:cNvPr id="28" name="Text 26"/>
          <p:cNvSpPr/>
          <p:nvPr/>
        </p:nvSpPr>
        <p:spPr>
          <a:xfrm>
            <a:off x="9769450" y="3291840"/>
            <a:ext cx="1706270" cy="1371600"/>
          </a:xfrm>
          <a:prstGeom prst="rect">
            <a:avLst/>
          </a:prstGeom>
          <a:noFill/>
          <a:ln/>
        </p:spPr>
        <p:txBody>
          <a:bodyPr wrap="square" rtlCol="0" anchor="ctr"/>
          <a:lstStyle/>
          <a:p>
            <a:pPr indent="0" marL="0">
              <a:lnSpc>
                <a:spcPct val="130000"/>
              </a:lnSpc>
              <a:buNone/>
            </a:pPr>
            <a:r>
              <a:rPr lang="en-US" sz="1080" dirty="0">
                <a:solidFill>
                  <a:srgbClr val="6B7280"/>
                </a:solidFill>
                <a:latin typeface="Calibri" pitchFamily="34" charset="0"/>
                <a:ea typeface="Calibri" pitchFamily="34" charset="-122"/>
                <a:cs typeface="Calibri" pitchFamily="34" charset="-120"/>
              </a:rPr>
              <a:t>Summarize insights and recommendations</a:t>
            </a:r>
            <a:endParaRPr lang="en-US" sz="1080" dirty="0"/>
          </a:p>
        </p:txBody>
      </p:sp>
      <p:sp>
        <p:nvSpPr>
          <p:cNvPr id="29" name="Text 27"/>
          <p:cNvSpPr/>
          <p:nvPr/>
        </p:nvSpPr>
        <p:spPr>
          <a:xfrm>
            <a:off x="548640" y="5120640"/>
            <a:ext cx="10607040" cy="548640"/>
          </a:xfrm>
          <a:prstGeom prst="rect">
            <a:avLst/>
          </a:prstGeom>
          <a:noFill/>
          <a:ln/>
        </p:spPr>
        <p:txBody>
          <a:bodyPr wrap="square" rtlCol="0" anchor="ctr"/>
          <a:lstStyle/>
          <a:p>
            <a:pPr indent="0" marL="0">
              <a:lnSpc>
                <a:spcPct val="130000"/>
              </a:lnSpc>
              <a:buNone/>
            </a:pPr>
            <a:r>
              <a:rPr lang="en-US" sz="1150" i="1" dirty="0">
                <a:solidFill>
                  <a:srgbClr val="6B7280"/>
                </a:solidFill>
                <a:latin typeface="Calibri" pitchFamily="34" charset="0"/>
                <a:ea typeface="Calibri" pitchFamily="34" charset="-122"/>
                <a:cs typeface="Calibri" pitchFamily="34" charset="-120"/>
              </a:rPr>
              <a:t>Note: same overall pipeline as the earlier FlowerAura review-scraping notebook, extended here with cleaning, TextBlob sentiment scoring and full analysis.</a:t>
            </a:r>
            <a:endParaRPr lang="en-US" sz="1150" dirty="0"/>
          </a:p>
        </p:txBody>
      </p:sp>
      <p:sp>
        <p:nvSpPr>
          <p:cNvPr id="30" name="Text 28"/>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31" name="Text 29"/>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1 OF 5</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Data Collection — Web Scraping</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508760"/>
            <a:ext cx="5120640" cy="2743200"/>
          </a:xfrm>
          <a:prstGeom prst="rect">
            <a:avLst/>
          </a:prstGeom>
          <a:noFill/>
          <a:ln/>
        </p:spPr>
        <p:txBody>
          <a:bodyPr wrap="square" rtlCol="0" anchor="ctr"/>
          <a:lstStyle/>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Open the iPhone 15 (128GB) product page on Flipkart using Selenium</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Loop through the review pages (pagination)</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Parse each page's HTML with BeautifulSoup</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Pull reviewer name, star rating and review text</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Stop once 300+ reviews are collected</a:t>
            </a:r>
            <a:endParaRPr lang="en-US" sz="1300" dirty="0"/>
          </a:p>
        </p:txBody>
      </p:sp>
      <p:sp>
        <p:nvSpPr>
          <p:cNvPr id="6" name="Shape 4"/>
          <p:cNvSpPr/>
          <p:nvPr/>
        </p:nvSpPr>
        <p:spPr>
          <a:xfrm>
            <a:off x="5806440" y="1417320"/>
            <a:ext cx="5852160" cy="4892040"/>
          </a:xfrm>
          <a:prstGeom prst="rect">
            <a:avLst/>
          </a:prstGeom>
          <a:solidFill>
            <a:srgbClr val="1E1E1E"/>
          </a:solidFill>
          <a:ln/>
        </p:spPr>
      </p:sp>
      <p:sp>
        <p:nvSpPr>
          <p:cNvPr id="7" name="Text 5"/>
          <p:cNvSpPr/>
          <p:nvPr/>
        </p:nvSpPr>
        <p:spPr>
          <a:xfrm>
            <a:off x="6007608" y="1508760"/>
            <a:ext cx="5486400" cy="274320"/>
          </a:xfrm>
          <a:prstGeom prst="rect">
            <a:avLst/>
          </a:prstGeom>
          <a:noFill/>
          <a:ln/>
        </p:spPr>
        <p:txBody>
          <a:bodyPr wrap="square" rtlCol="0" anchor="ctr"/>
          <a:lstStyle/>
          <a:p>
            <a:pPr indent="0" marL="0">
              <a:buNone/>
            </a:pPr>
            <a:r>
              <a:rPr lang="en-US" sz="1050" dirty="0">
                <a:solidFill>
                  <a:srgbClr val="8A8A8A"/>
                </a:solidFill>
                <a:latin typeface="Consolas" pitchFamily="34" charset="0"/>
                <a:ea typeface="Consolas" pitchFamily="34" charset="-122"/>
                <a:cs typeface="Consolas" pitchFamily="34" charset="-120"/>
              </a:rPr>
              <a:t>scrape_reviews.py</a:t>
            </a:r>
            <a:endParaRPr lang="en-US" sz="1050" dirty="0"/>
          </a:p>
        </p:txBody>
      </p:sp>
      <p:sp>
        <p:nvSpPr>
          <p:cNvPr id="8" name="Text 6"/>
          <p:cNvSpPr/>
          <p:nvPr/>
        </p:nvSpPr>
        <p:spPr>
          <a:xfrm>
            <a:off x="6007608" y="1783080"/>
            <a:ext cx="5486400" cy="4416552"/>
          </a:xfrm>
          <a:prstGeom prst="rect">
            <a:avLst/>
          </a:prstGeom>
          <a:noFill/>
          <a:ln/>
        </p:spPr>
        <p:txBody>
          <a:bodyPr wrap="square" rtlCol="0" anchor="t"/>
          <a:lstStyle/>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selenium import webdriver</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bs4 import BeautifulSoup</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pandas as pd, time</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URL = "https://www.flipkart.com/apple-iphone-15/product-reviews/..."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driver = webdriver.Chrome()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driver.get(URL)</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time.sleep(2)</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names, ratings, reviews = [], [], []</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while len(reviews) &lt; 300:</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soup = BeautifulSoup(driver.page_source, "html.parser")</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cards = soup.find_all("div", {"class": "col EPCmJX Ma1fCG"})</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for c in cards: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name = c.find("p", {"class": "_2NsDsF AwS1CA"})</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rating = c.find("div", {"class": "XQDdHH Ga3i8K"})</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text = c.find("div", {"class": "ZmyHeo"})</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if name and rating and 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names.append(name.text.strip())</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ratings.append(rating.text.strip())</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reviews.append(text.text.strip())</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next_btn = driver.find_element("xpath", "//span[text()='Next']")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next_btn.click()</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time.sleep(2)</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 = pd.DataFrame({"name": names, "rating": ratings, "review": reviews})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df.to_csv("iphone15_reviews_raw.csv", index=False)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print(f"Collected {len(df)} reviews")</a:t>
            </a:r>
            <a:endParaRPr lang="en-US" sz="850" dirty="0"/>
          </a:p>
        </p:txBody>
      </p:sp>
      <p:sp>
        <p:nvSpPr>
          <p:cNvPr id="9" name="Text 7"/>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0" name="Text 8"/>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2 OF 5</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Data Cleaning &amp; Preprocessing</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508760"/>
            <a:ext cx="5120640" cy="2926080"/>
          </a:xfrm>
          <a:prstGeom prst="rect">
            <a:avLst/>
          </a:prstGeom>
          <a:noFill/>
          <a:ln/>
        </p:spPr>
        <p:txBody>
          <a:bodyPr wrap="square" rtlCol="0" anchor="ctr"/>
          <a:lstStyle/>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Drop duplicate reviews and rows with missing text/rating</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Lowercase text and strip punctuation / special characters</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Tokenize each review into individual words</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Remove stop words (“the”, “is”, “and”…)</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Lemmatize tokens to their base form</a:t>
            </a:r>
            <a:endParaRPr lang="en-US" sz="1300" dirty="0"/>
          </a:p>
        </p:txBody>
      </p:sp>
      <p:sp>
        <p:nvSpPr>
          <p:cNvPr id="6" name="Shape 4"/>
          <p:cNvSpPr/>
          <p:nvPr/>
        </p:nvSpPr>
        <p:spPr>
          <a:xfrm>
            <a:off x="5806440" y="1417320"/>
            <a:ext cx="5852160" cy="4892040"/>
          </a:xfrm>
          <a:prstGeom prst="rect">
            <a:avLst/>
          </a:prstGeom>
          <a:solidFill>
            <a:srgbClr val="1E1E1E"/>
          </a:solidFill>
          <a:ln/>
        </p:spPr>
      </p:sp>
      <p:sp>
        <p:nvSpPr>
          <p:cNvPr id="7" name="Text 5"/>
          <p:cNvSpPr/>
          <p:nvPr/>
        </p:nvSpPr>
        <p:spPr>
          <a:xfrm>
            <a:off x="6007608" y="1508760"/>
            <a:ext cx="5486400" cy="274320"/>
          </a:xfrm>
          <a:prstGeom prst="rect">
            <a:avLst/>
          </a:prstGeom>
          <a:noFill/>
          <a:ln/>
        </p:spPr>
        <p:txBody>
          <a:bodyPr wrap="square" rtlCol="0" anchor="ctr"/>
          <a:lstStyle/>
          <a:p>
            <a:pPr indent="0" marL="0">
              <a:buNone/>
            </a:pPr>
            <a:r>
              <a:rPr lang="en-US" sz="1050" dirty="0">
                <a:solidFill>
                  <a:srgbClr val="8A8A8A"/>
                </a:solidFill>
                <a:latin typeface="Consolas" pitchFamily="34" charset="0"/>
                <a:ea typeface="Consolas" pitchFamily="34" charset="-122"/>
                <a:cs typeface="Consolas" pitchFamily="34" charset="-120"/>
              </a:rPr>
              <a:t>clean_reviews.py</a:t>
            </a:r>
            <a:endParaRPr lang="en-US" sz="1050" dirty="0"/>
          </a:p>
        </p:txBody>
      </p:sp>
      <p:sp>
        <p:nvSpPr>
          <p:cNvPr id="8" name="Text 6"/>
          <p:cNvSpPr/>
          <p:nvPr/>
        </p:nvSpPr>
        <p:spPr>
          <a:xfrm>
            <a:off x="6007608" y="1783080"/>
            <a:ext cx="5486400" cy="4416552"/>
          </a:xfrm>
          <a:prstGeom prst="rect">
            <a:avLst/>
          </a:prstGeom>
          <a:noFill/>
          <a:ln/>
        </p:spPr>
        <p:txBody>
          <a:bodyPr wrap="square" rtlCol="0" anchor="t"/>
          <a:lstStyle/>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re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pandas as pd</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nltk.corpus import stopwords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nltk.tokenize import word_tokenize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nltk.stem import WordNetLemmatizer</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 = pd.read_csv("iphone15_reviews_raw.csv")</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df.drop_duplicates(subset=["name", "review"], inplace=True)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df.dropna(subset=["review", "rating"], inplace=True)</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stop_words = set(stopwords.words("english"))</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lemmatizer = WordNetLemmatizer()</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def clean_text(text):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text = str(text).lower()</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text = re.sub(r"[^a-z\s]", " ", 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text = re.sub(r"\s+", " ", text).strip()</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tokens = word_tokenize(text)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tokens = [w for w in tokens if w not in stop_words]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tokens = [lemmatizer.lemmatize(w) for w in tokens]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return " ".join(tokens)</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df["clean_review"] = df["review"].apply(clean_text)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df["rating"] = df["rating"].astype(str).str.extract(r"(\d)")</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df["rating"] = df["rating"].astype(float)</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df.to_csv("iphone15_reviews_clean.csv", index=False)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print(f"{len(df)} reviews remain after cleaning")</a:t>
            </a:r>
            <a:endParaRPr lang="en-US" sz="850" dirty="0"/>
          </a:p>
        </p:txBody>
      </p:sp>
      <p:sp>
        <p:nvSpPr>
          <p:cNvPr id="9" name="Text 7"/>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0" name="Text 8"/>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3 OF 5</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Sentiment Analysis with TextBlob</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508760"/>
            <a:ext cx="5120640" cy="1828800"/>
          </a:xfrm>
          <a:prstGeom prst="rect">
            <a:avLst/>
          </a:prstGeom>
          <a:noFill/>
          <a:ln/>
        </p:spPr>
        <p:txBody>
          <a:bodyPr wrap="square" rtlCol="0" anchor="ctr"/>
          <a:lstStyle/>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Run TextBlob on each cleaned review</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polarity ranges from –1 (negative) to +1 (positive)</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subjectivity ranges from 0 (fact) to 1 (opinion)</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Label rule used in this project:</a:t>
            </a:r>
            <a:endParaRPr lang="en-US" sz="1300" dirty="0"/>
          </a:p>
        </p:txBody>
      </p:sp>
      <p:sp>
        <p:nvSpPr>
          <p:cNvPr id="6" name="Shape 4"/>
          <p:cNvSpPr/>
          <p:nvPr/>
        </p:nvSpPr>
        <p:spPr>
          <a:xfrm>
            <a:off x="548640" y="3246120"/>
            <a:ext cx="5120640" cy="1005840"/>
          </a:xfrm>
          <a:prstGeom prst="rect">
            <a:avLst/>
          </a:prstGeom>
          <a:solidFill>
            <a:srgbClr val="F1F3F6"/>
          </a:solidFill>
          <a:ln w="12700">
            <a:solidFill>
              <a:srgbClr val="D9DCE1"/>
            </a:solidFill>
            <a:prstDash val="solid"/>
          </a:ln>
        </p:spPr>
      </p:sp>
      <p:sp>
        <p:nvSpPr>
          <p:cNvPr id="7" name="Text 5"/>
          <p:cNvSpPr/>
          <p:nvPr/>
        </p:nvSpPr>
        <p:spPr>
          <a:xfrm>
            <a:off x="777240" y="3401568"/>
            <a:ext cx="4663440" cy="731520"/>
          </a:xfrm>
          <a:prstGeom prst="rect">
            <a:avLst/>
          </a:prstGeom>
          <a:noFill/>
          <a:ln/>
        </p:spPr>
        <p:txBody>
          <a:bodyPr wrap="square" rtlCol="0" anchor="ctr"/>
          <a:lstStyle/>
          <a:p>
            <a:pPr indent="0" marL="0">
              <a:lnSpc>
                <a:spcPct val="140000"/>
              </a:lnSpc>
              <a:buNone/>
            </a:pPr>
            <a:r>
              <a:rPr lang="en-US" sz="1250" dirty="0">
                <a:solidFill>
                  <a:srgbClr val="23262B"/>
                </a:solidFill>
                <a:latin typeface="Consolas" pitchFamily="34" charset="0"/>
                <a:ea typeface="Consolas" pitchFamily="34" charset="-122"/>
                <a:cs typeface="Consolas" pitchFamily="34" charset="-120"/>
              </a:rPr>
              <a:t>polarity ≥ 0.1  →  Positive</a:t>
            </a:r>
            <a:endParaRPr lang="en-US" sz="1250" dirty="0"/>
          </a:p>
          <a:p>
            <a:pPr indent="0" marL="0">
              <a:lnSpc>
                <a:spcPct val="140000"/>
              </a:lnSpc>
              <a:buNone/>
            </a:pPr>
            <a:r>
              <a:rPr lang="en-US" sz="1250" dirty="0">
                <a:solidFill>
                  <a:srgbClr val="23262B"/>
                </a:solidFill>
                <a:latin typeface="Consolas" pitchFamily="34" charset="0"/>
                <a:ea typeface="Consolas" pitchFamily="34" charset="-122"/>
                <a:cs typeface="Consolas" pitchFamily="34" charset="-120"/>
              </a:rPr>
              <a:t>polarity &lt; 0.1  →  Negative</a:t>
            </a:r>
            <a:endParaRPr lang="en-US" sz="1250" dirty="0"/>
          </a:p>
        </p:txBody>
      </p:sp>
      <p:sp>
        <p:nvSpPr>
          <p:cNvPr id="8" name="Shape 6"/>
          <p:cNvSpPr/>
          <p:nvPr/>
        </p:nvSpPr>
        <p:spPr>
          <a:xfrm>
            <a:off x="5806440" y="1417320"/>
            <a:ext cx="5852160" cy="4892040"/>
          </a:xfrm>
          <a:prstGeom prst="rect">
            <a:avLst/>
          </a:prstGeom>
          <a:solidFill>
            <a:srgbClr val="1E1E1E"/>
          </a:solidFill>
          <a:ln/>
        </p:spPr>
      </p:sp>
      <p:sp>
        <p:nvSpPr>
          <p:cNvPr id="9" name="Text 7"/>
          <p:cNvSpPr/>
          <p:nvPr/>
        </p:nvSpPr>
        <p:spPr>
          <a:xfrm>
            <a:off x="6007608" y="1508760"/>
            <a:ext cx="5486400" cy="274320"/>
          </a:xfrm>
          <a:prstGeom prst="rect">
            <a:avLst/>
          </a:prstGeom>
          <a:noFill/>
          <a:ln/>
        </p:spPr>
        <p:txBody>
          <a:bodyPr wrap="square" rtlCol="0" anchor="ctr"/>
          <a:lstStyle/>
          <a:p>
            <a:pPr indent="0" marL="0">
              <a:buNone/>
            </a:pPr>
            <a:r>
              <a:rPr lang="en-US" sz="1050" dirty="0">
                <a:solidFill>
                  <a:srgbClr val="8A8A8A"/>
                </a:solidFill>
                <a:latin typeface="Consolas" pitchFamily="34" charset="0"/>
                <a:ea typeface="Consolas" pitchFamily="34" charset="-122"/>
                <a:cs typeface="Consolas" pitchFamily="34" charset="-120"/>
              </a:rPr>
              <a:t>sentiment_analysis.py</a:t>
            </a:r>
            <a:endParaRPr lang="en-US" sz="1050" dirty="0"/>
          </a:p>
        </p:txBody>
      </p:sp>
      <p:sp>
        <p:nvSpPr>
          <p:cNvPr id="10" name="Text 8"/>
          <p:cNvSpPr/>
          <p:nvPr/>
        </p:nvSpPr>
        <p:spPr>
          <a:xfrm>
            <a:off x="6007608" y="1783080"/>
            <a:ext cx="5486400" cy="4416552"/>
          </a:xfrm>
          <a:prstGeom prst="rect">
            <a:avLst/>
          </a:prstGeom>
          <a:noFill/>
          <a:ln/>
        </p:spPr>
        <p:txBody>
          <a:bodyPr wrap="square" rtlCol="0" anchor="t"/>
          <a:lstStyle/>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textblob import TextBlob</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pandas as pd</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 = pd.read_csv("iphone15_reviews_clean.csv")</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def get_sentiment(text):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blob = TextBlob(str(text))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polarity = blob.sentiment.polarity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subjectivity = blob.sentiment.subjectivity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label = "Positive" if polarity &gt;= 0.1 else "Negative"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return pd.Series([polarity, subjectivity, label])</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df[["polarity", "subjectivity", "sentiment"]] = \</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df["clean_review"].apply(get_sentiment)</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print(df["sentiment"].value_counts())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print(df[["clean_review", "polarity",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"sentiment"]].head())</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df.to_csv("iphone15_reviews_sentiment.csv", index=False)</a:t>
            </a:r>
            <a:endParaRPr lang="en-US" sz="850" dirty="0"/>
          </a:p>
        </p:txBody>
      </p:sp>
      <p:sp>
        <p:nvSpPr>
          <p:cNvPr id="11" name="Text 9"/>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2" name="Text 10"/>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4 OF 5</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Data Analysis — Plotting the Results</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508760"/>
            <a:ext cx="5120640" cy="2743200"/>
          </a:xfrm>
          <a:prstGeom prst="rect">
            <a:avLst/>
          </a:prstGeom>
          <a:noFill/>
          <a:ln/>
        </p:spPr>
        <p:txBody>
          <a:bodyPr wrap="square" rtlCol="0" anchor="ctr"/>
          <a:lstStyle/>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Sentiment distribution: countplot of Positive vs Negative</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Rating vs sentiment: mean polarity per star rating</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Word cloud: most frequent words per sentiment class</a:t>
            </a:r>
            <a:endParaRPr lang="en-US" sz="1300" dirty="0"/>
          </a:p>
          <a:p>
            <a:pPr marL="342900" indent="-342900">
              <a:lnSpc>
                <a:spcPct val="145000"/>
              </a:lnSpc>
              <a:buSzPct val="100000"/>
              <a:buChar char="–"/>
            </a:pPr>
            <a:r>
              <a:rPr lang="en-US" sz="1300" dirty="0">
                <a:solidFill>
                  <a:srgbClr val="23262B"/>
                </a:solidFill>
                <a:latin typeface="Calibri" pitchFamily="34" charset="0"/>
                <a:ea typeface="Calibri" pitchFamily="34" charset="-122"/>
                <a:cs typeface="Calibri" pitchFamily="34" charset="-120"/>
              </a:rPr>
              <a:t>Review length: word count vs polarity</a:t>
            </a:r>
            <a:endParaRPr lang="en-US" sz="1300" dirty="0"/>
          </a:p>
        </p:txBody>
      </p:sp>
      <p:sp>
        <p:nvSpPr>
          <p:cNvPr id="6" name="Shape 4"/>
          <p:cNvSpPr/>
          <p:nvPr/>
        </p:nvSpPr>
        <p:spPr>
          <a:xfrm>
            <a:off x="5806440" y="1417320"/>
            <a:ext cx="5852160" cy="4892040"/>
          </a:xfrm>
          <a:prstGeom prst="rect">
            <a:avLst/>
          </a:prstGeom>
          <a:solidFill>
            <a:srgbClr val="1E1E1E"/>
          </a:solidFill>
          <a:ln/>
        </p:spPr>
      </p:sp>
      <p:sp>
        <p:nvSpPr>
          <p:cNvPr id="7" name="Text 5"/>
          <p:cNvSpPr/>
          <p:nvPr/>
        </p:nvSpPr>
        <p:spPr>
          <a:xfrm>
            <a:off x="6007608" y="1508760"/>
            <a:ext cx="5486400" cy="274320"/>
          </a:xfrm>
          <a:prstGeom prst="rect">
            <a:avLst/>
          </a:prstGeom>
          <a:noFill/>
          <a:ln/>
        </p:spPr>
        <p:txBody>
          <a:bodyPr wrap="square" rtlCol="0" anchor="ctr"/>
          <a:lstStyle/>
          <a:p>
            <a:pPr indent="0" marL="0">
              <a:buNone/>
            </a:pPr>
            <a:r>
              <a:rPr lang="en-US" sz="1050" dirty="0">
                <a:solidFill>
                  <a:srgbClr val="8A8A8A"/>
                </a:solidFill>
                <a:latin typeface="Consolas" pitchFamily="34" charset="0"/>
                <a:ea typeface="Consolas" pitchFamily="34" charset="-122"/>
                <a:cs typeface="Consolas" pitchFamily="34" charset="-120"/>
              </a:rPr>
              <a:t>visualize_results.py</a:t>
            </a:r>
            <a:endParaRPr lang="en-US" sz="1050" dirty="0"/>
          </a:p>
        </p:txBody>
      </p:sp>
      <p:sp>
        <p:nvSpPr>
          <p:cNvPr id="8" name="Text 6"/>
          <p:cNvSpPr/>
          <p:nvPr/>
        </p:nvSpPr>
        <p:spPr>
          <a:xfrm>
            <a:off x="6007608" y="1783080"/>
            <a:ext cx="5486400" cy="4416552"/>
          </a:xfrm>
          <a:prstGeom prst="rect">
            <a:avLst/>
          </a:prstGeom>
          <a:noFill/>
          <a:ln/>
        </p:spPr>
        <p:txBody>
          <a:bodyPr wrap="square" rtlCol="0" anchor="t"/>
          <a:lstStyle/>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matplotlib.pyplot as plt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seaborn as sns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from wordcloud import WordCloud</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import pandas as pd</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 = pd.read_csv("iphone15_reviews_sentiment.csv")</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1. Sentiment distribution</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sns.countplot(x="sentiment", data=df,</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palette={"Positive": "#2E7D46",</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"Negative": "#B23A3A"})</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plt.title("Sentiment Distribution")</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plt.savefig("sentiment_distribution.png")</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2. Rating vs average polarity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avg_pol = df.groupby("rating")["polarity"].mean()</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avg_pol.plot(kind="bar", color="#2E5AAC")</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plt.title("Average Polarity by Star Rating")</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plt.savefig("rating_vs_polarity.png")</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3. Word cloud for positive reviews</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pos_text = " ".join(df[df.sentiment == "Positive"]</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["clean_review"])</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wc = WordCloud(width=800, height=400,</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background_color="white").generate(pos_text)</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plt.imshow(wc); plt.axis("off")</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plt.savefig("positive_wordcloud.png")</a:t>
            </a:r>
            <a:endParaRPr lang="en-US" sz="850" dirty="0"/>
          </a:p>
          <a:p>
            <a:pPr indent="0" marL="0">
              <a:lnSpc>
                <a:spcPct val="100000"/>
              </a:lnSpc>
              <a:buNone/>
            </a:pP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 4. Review length vs polarity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df["length"] = df["clean_review"].str.split().apply(len)</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sns.scatterplot(x="length", y="polarity", data=df)</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plt.title("Review Length vs Polarity")</a:t>
            </a:r>
            <a:endParaRPr lang="en-US" sz="850" dirty="0"/>
          </a:p>
          <a:p>
            <a:pPr indent="0" marL="0">
              <a:lnSpc>
                <a:spcPct val="100000"/>
              </a:lnSpc>
              <a:buNone/>
            </a:pPr>
            <a:r>
              <a:rPr lang="en-US" sz="850" dirty="0">
                <a:solidFill>
                  <a:srgbClr val="D4D4D4"/>
                </a:solidFill>
                <a:latin typeface="Consolas" pitchFamily="34" charset="0"/>
                <a:ea typeface="Consolas" pitchFamily="34" charset="-122"/>
                <a:cs typeface="Consolas" pitchFamily="34" charset="-120"/>
              </a:rPr>
              <a:t>plt.savefig("length_vs_polarity.png")</a:t>
            </a:r>
            <a:endParaRPr lang="en-US" sz="850" dirty="0"/>
          </a:p>
        </p:txBody>
      </p:sp>
      <p:sp>
        <p:nvSpPr>
          <p:cNvPr id="9" name="Text 7"/>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0" name="Text 8"/>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4 OF 5 — OUTPUT</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Sentiment Distribution</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371600"/>
            <a:ext cx="8686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Sample output based on a representative pull of 300 reviews</a:t>
            </a:r>
            <a:endParaRPr lang="en-US" sz="1100" dirty="0"/>
          </a:p>
        </p:txBody>
      </p:sp>
      <p:graphicFrame>
        <p:nvGraphicFramePr>
          <p:cNvPr id="6" name="Chart 0" descr=""/>
          <p:cNvGraphicFramePr/>
          <p:nvPr/>
        </p:nvGraphicFramePr>
        <p:xfrm>
          <a:off x="548640" y="1783080"/>
          <a:ext cx="5120640" cy="4434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035040" y="1874520"/>
            <a:ext cx="5577840" cy="1188720"/>
          </a:xfrm>
          <a:prstGeom prst="rect">
            <a:avLst/>
          </a:prstGeom>
          <a:solidFill>
            <a:srgbClr val="F1F3F6"/>
          </a:solidFill>
          <a:ln w="12700">
            <a:solidFill>
              <a:srgbClr val="D9DCE1"/>
            </a:solidFill>
            <a:prstDash val="solid"/>
          </a:ln>
        </p:spPr>
      </p:sp>
      <p:sp>
        <p:nvSpPr>
          <p:cNvPr id="8" name="Text 5"/>
          <p:cNvSpPr/>
          <p:nvPr/>
        </p:nvSpPr>
        <p:spPr>
          <a:xfrm>
            <a:off x="6309360" y="2011680"/>
            <a:ext cx="2011680" cy="914400"/>
          </a:xfrm>
          <a:prstGeom prst="rect">
            <a:avLst/>
          </a:prstGeom>
          <a:noFill/>
          <a:ln/>
        </p:spPr>
        <p:txBody>
          <a:bodyPr wrap="square" rtlCol="0" anchor="ctr"/>
          <a:lstStyle/>
          <a:p>
            <a:pPr indent="0" marL="0">
              <a:buNone/>
            </a:pPr>
            <a:r>
              <a:rPr lang="en-US" sz="2800" b="1" dirty="0">
                <a:solidFill>
                  <a:srgbClr val="2E7D46"/>
                </a:solidFill>
                <a:latin typeface="Calibri" pitchFamily="34" charset="0"/>
                <a:ea typeface="Calibri" pitchFamily="34" charset="-122"/>
                <a:cs typeface="Calibri" pitchFamily="34" charset="-120"/>
              </a:rPr>
              <a:t>77%</a:t>
            </a:r>
            <a:endParaRPr lang="en-US" sz="2800" dirty="0"/>
          </a:p>
        </p:txBody>
      </p:sp>
      <p:sp>
        <p:nvSpPr>
          <p:cNvPr id="9" name="Text 6"/>
          <p:cNvSpPr/>
          <p:nvPr/>
        </p:nvSpPr>
        <p:spPr>
          <a:xfrm>
            <a:off x="8321040" y="1874520"/>
            <a:ext cx="3108960" cy="1188720"/>
          </a:xfrm>
          <a:prstGeom prst="rect">
            <a:avLst/>
          </a:prstGeom>
          <a:noFill/>
          <a:ln/>
        </p:spPr>
        <p:txBody>
          <a:bodyPr wrap="square" rtlCol="0" anchor="ctr"/>
          <a:lstStyle/>
          <a:p>
            <a:pPr indent="0" marL="0">
              <a:buNone/>
            </a:pPr>
            <a:r>
              <a:rPr lang="en-US" sz="1350" dirty="0">
                <a:solidFill>
                  <a:srgbClr val="23262B"/>
                </a:solidFill>
                <a:latin typeface="Calibri" pitchFamily="34" charset="0"/>
                <a:ea typeface="Calibri" pitchFamily="34" charset="-122"/>
                <a:cs typeface="Calibri" pitchFamily="34" charset="-120"/>
              </a:rPr>
              <a:t>Positive reviews</a:t>
            </a:r>
            <a:endParaRPr lang="en-US" sz="1350" dirty="0"/>
          </a:p>
        </p:txBody>
      </p:sp>
      <p:sp>
        <p:nvSpPr>
          <p:cNvPr id="10" name="Shape 7"/>
          <p:cNvSpPr/>
          <p:nvPr/>
        </p:nvSpPr>
        <p:spPr>
          <a:xfrm>
            <a:off x="6035040" y="3291840"/>
            <a:ext cx="5577840" cy="1188720"/>
          </a:xfrm>
          <a:prstGeom prst="rect">
            <a:avLst/>
          </a:prstGeom>
          <a:solidFill>
            <a:srgbClr val="F1F3F6"/>
          </a:solidFill>
          <a:ln w="12700">
            <a:solidFill>
              <a:srgbClr val="D9DCE1"/>
            </a:solidFill>
            <a:prstDash val="solid"/>
          </a:ln>
        </p:spPr>
      </p:sp>
      <p:sp>
        <p:nvSpPr>
          <p:cNvPr id="11" name="Text 8"/>
          <p:cNvSpPr/>
          <p:nvPr/>
        </p:nvSpPr>
        <p:spPr>
          <a:xfrm>
            <a:off x="6309360" y="3429000"/>
            <a:ext cx="2011680" cy="914400"/>
          </a:xfrm>
          <a:prstGeom prst="rect">
            <a:avLst/>
          </a:prstGeom>
          <a:noFill/>
          <a:ln/>
        </p:spPr>
        <p:txBody>
          <a:bodyPr wrap="square" rtlCol="0" anchor="ctr"/>
          <a:lstStyle/>
          <a:p>
            <a:pPr indent="0" marL="0">
              <a:buNone/>
            </a:pPr>
            <a:r>
              <a:rPr lang="en-US" sz="2800" b="1" dirty="0">
                <a:solidFill>
                  <a:srgbClr val="B23A3A"/>
                </a:solidFill>
                <a:latin typeface="Calibri" pitchFamily="34" charset="0"/>
                <a:ea typeface="Calibri" pitchFamily="34" charset="-122"/>
                <a:cs typeface="Calibri" pitchFamily="34" charset="-120"/>
              </a:rPr>
              <a:t>23%</a:t>
            </a:r>
            <a:endParaRPr lang="en-US" sz="2800" dirty="0"/>
          </a:p>
        </p:txBody>
      </p:sp>
      <p:sp>
        <p:nvSpPr>
          <p:cNvPr id="12" name="Text 9"/>
          <p:cNvSpPr/>
          <p:nvPr/>
        </p:nvSpPr>
        <p:spPr>
          <a:xfrm>
            <a:off x="8321040" y="3291840"/>
            <a:ext cx="3108960" cy="1188720"/>
          </a:xfrm>
          <a:prstGeom prst="rect">
            <a:avLst/>
          </a:prstGeom>
          <a:noFill/>
          <a:ln/>
        </p:spPr>
        <p:txBody>
          <a:bodyPr wrap="square" rtlCol="0" anchor="ctr"/>
          <a:lstStyle/>
          <a:p>
            <a:pPr indent="0" marL="0">
              <a:buNone/>
            </a:pPr>
            <a:r>
              <a:rPr lang="en-US" sz="1350" dirty="0">
                <a:solidFill>
                  <a:srgbClr val="23262B"/>
                </a:solidFill>
                <a:latin typeface="Calibri" pitchFamily="34" charset="0"/>
                <a:ea typeface="Calibri" pitchFamily="34" charset="-122"/>
                <a:cs typeface="Calibri" pitchFamily="34" charset="-120"/>
              </a:rPr>
              <a:t>Negative reviews</a:t>
            </a:r>
            <a:endParaRPr lang="en-US" sz="1350" dirty="0"/>
          </a:p>
        </p:txBody>
      </p:sp>
      <p:sp>
        <p:nvSpPr>
          <p:cNvPr id="13" name="Shape 10"/>
          <p:cNvSpPr/>
          <p:nvPr/>
        </p:nvSpPr>
        <p:spPr>
          <a:xfrm>
            <a:off x="6035040" y="4709160"/>
            <a:ext cx="5577840" cy="1188720"/>
          </a:xfrm>
          <a:prstGeom prst="rect">
            <a:avLst/>
          </a:prstGeom>
          <a:solidFill>
            <a:srgbClr val="F1F3F6"/>
          </a:solidFill>
          <a:ln w="12700">
            <a:solidFill>
              <a:srgbClr val="D9DCE1"/>
            </a:solidFill>
            <a:prstDash val="solid"/>
          </a:ln>
        </p:spPr>
      </p:sp>
      <p:sp>
        <p:nvSpPr>
          <p:cNvPr id="14" name="Text 11"/>
          <p:cNvSpPr/>
          <p:nvPr/>
        </p:nvSpPr>
        <p:spPr>
          <a:xfrm>
            <a:off x="6309360" y="4846320"/>
            <a:ext cx="2011680" cy="914400"/>
          </a:xfrm>
          <a:prstGeom prst="rect">
            <a:avLst/>
          </a:prstGeom>
          <a:noFill/>
          <a:ln/>
        </p:spPr>
        <p:txBody>
          <a:bodyPr wrap="square" rtlCol="0" anchor="ctr"/>
          <a:lstStyle/>
          <a:p>
            <a:pPr indent="0" marL="0">
              <a:buNone/>
            </a:pPr>
            <a:r>
              <a:rPr lang="en-US" sz="2800" b="1" dirty="0">
                <a:solidFill>
                  <a:srgbClr val="2E5AAC"/>
                </a:solidFill>
                <a:latin typeface="Calibri" pitchFamily="34" charset="0"/>
                <a:ea typeface="Calibri" pitchFamily="34" charset="-122"/>
                <a:cs typeface="Calibri" pitchFamily="34" charset="-120"/>
              </a:rPr>
              <a:t>4.3 / 5</a:t>
            </a:r>
            <a:endParaRPr lang="en-US" sz="2800" dirty="0"/>
          </a:p>
        </p:txBody>
      </p:sp>
      <p:sp>
        <p:nvSpPr>
          <p:cNvPr id="15" name="Text 12"/>
          <p:cNvSpPr/>
          <p:nvPr/>
        </p:nvSpPr>
        <p:spPr>
          <a:xfrm>
            <a:off x="8321040" y="4709160"/>
            <a:ext cx="3108960" cy="1188720"/>
          </a:xfrm>
          <a:prstGeom prst="rect">
            <a:avLst/>
          </a:prstGeom>
          <a:noFill/>
          <a:ln/>
        </p:spPr>
        <p:txBody>
          <a:bodyPr wrap="square" rtlCol="0" anchor="ctr"/>
          <a:lstStyle/>
          <a:p>
            <a:pPr indent="0" marL="0">
              <a:buNone/>
            </a:pPr>
            <a:r>
              <a:rPr lang="en-US" sz="1350" dirty="0">
                <a:solidFill>
                  <a:srgbClr val="23262B"/>
                </a:solidFill>
                <a:latin typeface="Calibri" pitchFamily="34" charset="0"/>
                <a:ea typeface="Calibri" pitchFamily="34" charset="-122"/>
                <a:cs typeface="Calibri" pitchFamily="34" charset="-120"/>
              </a:rPr>
              <a:t>Average star rating</a:t>
            </a:r>
            <a:endParaRPr lang="en-US" sz="1350" dirty="0"/>
          </a:p>
        </p:txBody>
      </p:sp>
      <p:sp>
        <p:nvSpPr>
          <p:cNvPr id="16" name="Text 13"/>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7" name="Text 14"/>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4 OF 5 — OUTPUT</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Rating vs. Sentiment Polarity</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371600"/>
            <a:ext cx="8686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Average TextBlob polarity grouped by star rating (sample output)</a:t>
            </a:r>
            <a:endParaRPr lang="en-US" sz="1100" dirty="0"/>
          </a:p>
        </p:txBody>
      </p:sp>
      <p:graphicFrame>
        <p:nvGraphicFramePr>
          <p:cNvPr id="6" name="Chart 0" descr=""/>
          <p:cNvGraphicFramePr/>
          <p:nvPr/>
        </p:nvGraphicFramePr>
        <p:xfrm>
          <a:off x="548640" y="1783080"/>
          <a:ext cx="7589520" cy="4434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412480" y="1783080"/>
            <a:ext cx="3246120" cy="4434840"/>
          </a:xfrm>
          <a:prstGeom prst="rect">
            <a:avLst/>
          </a:prstGeom>
          <a:solidFill>
            <a:srgbClr val="F1F3F6"/>
          </a:solidFill>
          <a:ln w="12700">
            <a:solidFill>
              <a:srgbClr val="D9DCE1"/>
            </a:solidFill>
            <a:prstDash val="solid"/>
          </a:ln>
        </p:spPr>
      </p:sp>
      <p:sp>
        <p:nvSpPr>
          <p:cNvPr id="8" name="Text 5"/>
          <p:cNvSpPr/>
          <p:nvPr/>
        </p:nvSpPr>
        <p:spPr>
          <a:xfrm>
            <a:off x="8641080" y="1965960"/>
            <a:ext cx="2834640" cy="320040"/>
          </a:xfrm>
          <a:prstGeom prst="rect">
            <a:avLst/>
          </a:prstGeom>
          <a:noFill/>
          <a:ln/>
        </p:spPr>
        <p:txBody>
          <a:bodyPr wrap="square" rtlCol="0" anchor="ctr"/>
          <a:lstStyle/>
          <a:p>
            <a:pPr indent="0" marL="0">
              <a:buNone/>
            </a:pPr>
            <a:r>
              <a:rPr lang="en-US" sz="1250" b="1" dirty="0">
                <a:solidFill>
                  <a:srgbClr val="2E5AAC"/>
                </a:solidFill>
                <a:latin typeface="Calibri" pitchFamily="34" charset="0"/>
                <a:ea typeface="Calibri" pitchFamily="34" charset="-122"/>
                <a:cs typeface="Calibri" pitchFamily="34" charset="-120"/>
              </a:rPr>
              <a:t>Observation</a:t>
            </a:r>
            <a:endParaRPr lang="en-US" sz="1250" dirty="0"/>
          </a:p>
        </p:txBody>
      </p:sp>
      <p:sp>
        <p:nvSpPr>
          <p:cNvPr id="9" name="Text 6"/>
          <p:cNvSpPr/>
          <p:nvPr/>
        </p:nvSpPr>
        <p:spPr>
          <a:xfrm>
            <a:off x="8641080" y="2377440"/>
            <a:ext cx="2834640" cy="3657600"/>
          </a:xfrm>
          <a:prstGeom prst="rect">
            <a:avLst/>
          </a:prstGeom>
          <a:noFill/>
          <a:ln/>
        </p:spPr>
        <p:txBody>
          <a:bodyPr wrap="square" rtlCol="0" anchor="ctr"/>
          <a:lstStyle/>
          <a:p>
            <a:pPr marL="342900" indent="-342900">
              <a:lnSpc>
                <a:spcPct val="140000"/>
              </a:lnSpc>
              <a:buSzPct val="100000"/>
              <a:buChar char="–"/>
            </a:pPr>
            <a:r>
              <a:rPr lang="en-US" sz="1150" dirty="0">
                <a:solidFill>
                  <a:srgbClr val="23262B"/>
                </a:solidFill>
                <a:latin typeface="Calibri" pitchFamily="34" charset="0"/>
                <a:ea typeface="Calibri" pitchFamily="34" charset="-122"/>
                <a:cs typeface="Calibri" pitchFamily="34" charset="-120"/>
              </a:rPr>
              <a:t>Polarity rises almost step-by-step with star rating</a:t>
            </a:r>
            <a:endParaRPr lang="en-US" sz="1150" dirty="0"/>
          </a:p>
          <a:p>
            <a:pPr marL="342900" indent="-342900">
              <a:lnSpc>
                <a:spcPct val="140000"/>
              </a:lnSpc>
              <a:buSzPct val="100000"/>
              <a:buChar char="–"/>
            </a:pPr>
            <a:r>
              <a:rPr lang="en-US" sz="1150" dirty="0">
                <a:solidFill>
                  <a:srgbClr val="23262B"/>
                </a:solidFill>
                <a:latin typeface="Calibri" pitchFamily="34" charset="0"/>
                <a:ea typeface="Calibri" pitchFamily="34" charset="-122"/>
                <a:cs typeface="Calibri" pitchFamily="34" charset="-120"/>
              </a:rPr>
              <a:t>1– and 2★ reviews average negative polarity</a:t>
            </a:r>
            <a:endParaRPr lang="en-US" sz="1150" dirty="0"/>
          </a:p>
          <a:p>
            <a:pPr marL="342900" indent="-342900">
              <a:lnSpc>
                <a:spcPct val="140000"/>
              </a:lnSpc>
              <a:buSzPct val="100000"/>
              <a:buChar char="–"/>
            </a:pPr>
            <a:r>
              <a:rPr lang="en-US" sz="1150" dirty="0">
                <a:solidFill>
                  <a:srgbClr val="23262B"/>
                </a:solidFill>
                <a:latin typeface="Calibri" pitchFamily="34" charset="0"/>
                <a:ea typeface="Calibri" pitchFamily="34" charset="-122"/>
                <a:cs typeface="Calibri" pitchFamily="34" charset="-120"/>
              </a:rPr>
              <a:t>3★ sits near neutral — often mixed reviews</a:t>
            </a:r>
            <a:endParaRPr lang="en-US" sz="1150" dirty="0"/>
          </a:p>
        </p:txBody>
      </p:sp>
      <p:sp>
        <p:nvSpPr>
          <p:cNvPr id="10" name="Text 7"/>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1" name="Text 8"/>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4 OF 5 — OUTPUT</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Frequent Words &amp; Review Length</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Text 3"/>
          <p:cNvSpPr/>
          <p:nvPr/>
        </p:nvSpPr>
        <p:spPr>
          <a:xfrm>
            <a:off x="548640" y="1371600"/>
            <a:ext cx="8686800" cy="292608"/>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Sample output standing in for the word-cloud and length-vs-polarity plots</a:t>
            </a:r>
            <a:endParaRPr lang="en-US" sz="1100" dirty="0"/>
          </a:p>
        </p:txBody>
      </p:sp>
      <p:graphicFrame>
        <p:nvGraphicFramePr>
          <p:cNvPr id="6" name="Chart 0" descr=""/>
          <p:cNvGraphicFramePr/>
          <p:nvPr/>
        </p:nvGraphicFramePr>
        <p:xfrm>
          <a:off x="548640" y="1783080"/>
          <a:ext cx="548640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309360" y="1783080"/>
          <a:ext cx="5349240" cy="44348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9" name="Text 5"/>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STEP 5 OF 5 — FINDINGS</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Key Insights</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Shape 3"/>
          <p:cNvSpPr/>
          <p:nvPr/>
        </p:nvSpPr>
        <p:spPr>
          <a:xfrm>
            <a:off x="548640" y="1600200"/>
            <a:ext cx="5349240" cy="2057400"/>
          </a:xfrm>
          <a:prstGeom prst="rect">
            <a:avLst/>
          </a:prstGeom>
          <a:solidFill>
            <a:srgbClr val="F1F3F6"/>
          </a:solidFill>
          <a:ln w="12700">
            <a:solidFill>
              <a:srgbClr val="D9DCE1"/>
            </a:solidFill>
            <a:prstDash val="solid"/>
          </a:ln>
        </p:spPr>
      </p:sp>
      <p:sp>
        <p:nvSpPr>
          <p:cNvPr id="6" name="Text 4"/>
          <p:cNvSpPr/>
          <p:nvPr/>
        </p:nvSpPr>
        <p:spPr>
          <a:xfrm>
            <a:off x="777240" y="1783080"/>
            <a:ext cx="457200" cy="365760"/>
          </a:xfrm>
          <a:prstGeom prst="rect">
            <a:avLst/>
          </a:prstGeom>
          <a:noFill/>
          <a:ln/>
        </p:spPr>
        <p:txBody>
          <a:bodyPr wrap="square" rtlCol="0" anchor="ctr"/>
          <a:lstStyle/>
          <a:p>
            <a:pPr indent="0" marL="0">
              <a:buNone/>
            </a:pPr>
            <a:r>
              <a:rPr lang="en-US" sz="1600" b="1" dirty="0">
                <a:solidFill>
                  <a:srgbClr val="2E5AAC"/>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188720" y="1783080"/>
            <a:ext cx="4526280" cy="548640"/>
          </a:xfrm>
          <a:prstGeom prst="rect">
            <a:avLst/>
          </a:prstGeom>
          <a:noFill/>
          <a:ln/>
        </p:spPr>
        <p:txBody>
          <a:bodyPr wrap="square" rtlCol="0" anchor="ctr"/>
          <a:lstStyle/>
          <a:p>
            <a:pPr indent="0" marL="0">
              <a:buNone/>
            </a:pPr>
            <a:r>
              <a:rPr lang="en-US" sz="1450" b="1" dirty="0">
                <a:solidFill>
                  <a:srgbClr val="23262B"/>
                </a:solidFill>
                <a:latin typeface="Calibri" pitchFamily="34" charset="0"/>
                <a:ea typeface="Calibri" pitchFamily="34" charset="-122"/>
                <a:cs typeface="Calibri" pitchFamily="34" charset="-120"/>
              </a:rPr>
              <a:t>Camera &amp; battery drive praise</a:t>
            </a:r>
            <a:endParaRPr lang="en-US" sz="1450" dirty="0"/>
          </a:p>
        </p:txBody>
      </p:sp>
      <p:sp>
        <p:nvSpPr>
          <p:cNvPr id="8" name="Text 6"/>
          <p:cNvSpPr/>
          <p:nvPr/>
        </p:nvSpPr>
        <p:spPr>
          <a:xfrm>
            <a:off x="777240" y="2377440"/>
            <a:ext cx="4892040" cy="1143000"/>
          </a:xfrm>
          <a:prstGeom prst="rect">
            <a:avLst/>
          </a:prstGeom>
          <a:noFill/>
          <a:ln/>
        </p:spPr>
        <p:txBody>
          <a:bodyPr wrap="square" rtlCol="0" anchor="ctr"/>
          <a:lstStyle/>
          <a:p>
            <a:pPr indent="0" marL="0">
              <a:lnSpc>
                <a:spcPct val="130000"/>
              </a:lnSpc>
              <a:buNone/>
            </a:pPr>
            <a:r>
              <a:rPr lang="en-US" sz="1180" dirty="0">
                <a:solidFill>
                  <a:srgbClr val="6B7280"/>
                </a:solidFill>
                <a:latin typeface="Calibri" pitchFamily="34" charset="0"/>
                <a:ea typeface="Calibri" pitchFamily="34" charset="-122"/>
                <a:cs typeface="Calibri" pitchFamily="34" charset="-120"/>
              </a:rPr>
              <a:t>The two most common positive words across reviews are camera and battery — customers repeatedly call these out.</a:t>
            </a:r>
            <a:endParaRPr lang="en-US" sz="1180" dirty="0"/>
          </a:p>
        </p:txBody>
      </p:sp>
      <p:sp>
        <p:nvSpPr>
          <p:cNvPr id="9" name="Shape 7"/>
          <p:cNvSpPr/>
          <p:nvPr/>
        </p:nvSpPr>
        <p:spPr>
          <a:xfrm>
            <a:off x="6217920" y="1600200"/>
            <a:ext cx="5349240" cy="2057400"/>
          </a:xfrm>
          <a:prstGeom prst="rect">
            <a:avLst/>
          </a:prstGeom>
          <a:solidFill>
            <a:srgbClr val="F1F3F6"/>
          </a:solidFill>
          <a:ln w="12700">
            <a:solidFill>
              <a:srgbClr val="D9DCE1"/>
            </a:solidFill>
            <a:prstDash val="solid"/>
          </a:ln>
        </p:spPr>
      </p:sp>
      <p:sp>
        <p:nvSpPr>
          <p:cNvPr id="10" name="Text 8"/>
          <p:cNvSpPr/>
          <p:nvPr/>
        </p:nvSpPr>
        <p:spPr>
          <a:xfrm>
            <a:off x="6446520" y="1783080"/>
            <a:ext cx="457200" cy="365760"/>
          </a:xfrm>
          <a:prstGeom prst="rect">
            <a:avLst/>
          </a:prstGeom>
          <a:noFill/>
          <a:ln/>
        </p:spPr>
        <p:txBody>
          <a:bodyPr wrap="square" rtlCol="0" anchor="ctr"/>
          <a:lstStyle/>
          <a:p>
            <a:pPr indent="0" marL="0">
              <a:buNone/>
            </a:pPr>
            <a:r>
              <a:rPr lang="en-US" sz="1600" b="1" dirty="0">
                <a:solidFill>
                  <a:srgbClr val="2E5AAC"/>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6858000" y="1783080"/>
            <a:ext cx="4526280" cy="548640"/>
          </a:xfrm>
          <a:prstGeom prst="rect">
            <a:avLst/>
          </a:prstGeom>
          <a:noFill/>
          <a:ln/>
        </p:spPr>
        <p:txBody>
          <a:bodyPr wrap="square" rtlCol="0" anchor="ctr"/>
          <a:lstStyle/>
          <a:p>
            <a:pPr indent="0" marL="0">
              <a:buNone/>
            </a:pPr>
            <a:r>
              <a:rPr lang="en-US" sz="1450" b="1" dirty="0">
                <a:solidFill>
                  <a:srgbClr val="23262B"/>
                </a:solidFill>
                <a:latin typeface="Calibri" pitchFamily="34" charset="0"/>
                <a:ea typeface="Calibri" pitchFamily="34" charset="-122"/>
                <a:cs typeface="Calibri" pitchFamily="34" charset="-120"/>
              </a:rPr>
              <a:t>Delivery, not the phone, drives complaints</a:t>
            </a:r>
            <a:endParaRPr lang="en-US" sz="1450" dirty="0"/>
          </a:p>
        </p:txBody>
      </p:sp>
      <p:sp>
        <p:nvSpPr>
          <p:cNvPr id="12" name="Text 10"/>
          <p:cNvSpPr/>
          <p:nvPr/>
        </p:nvSpPr>
        <p:spPr>
          <a:xfrm>
            <a:off x="6446520" y="2377440"/>
            <a:ext cx="4892040" cy="1143000"/>
          </a:xfrm>
          <a:prstGeom prst="rect">
            <a:avLst/>
          </a:prstGeom>
          <a:noFill/>
          <a:ln/>
        </p:spPr>
        <p:txBody>
          <a:bodyPr wrap="square" rtlCol="0" anchor="ctr"/>
          <a:lstStyle/>
          <a:p>
            <a:pPr indent="0" marL="0">
              <a:lnSpc>
                <a:spcPct val="130000"/>
              </a:lnSpc>
              <a:buNone/>
            </a:pPr>
            <a:r>
              <a:rPr lang="en-US" sz="1180" dirty="0">
                <a:solidFill>
                  <a:srgbClr val="6B7280"/>
                </a:solidFill>
                <a:latin typeface="Calibri" pitchFamily="34" charset="0"/>
                <a:ea typeface="Calibri" pitchFamily="34" charset="-122"/>
                <a:cs typeface="Calibri" pitchFamily="34" charset="-120"/>
              </a:rPr>
              <a:t>Negative reviews cluster around packaging damage and delayed delivery far more than the device itself.</a:t>
            </a:r>
            <a:endParaRPr lang="en-US" sz="1180" dirty="0"/>
          </a:p>
        </p:txBody>
      </p:sp>
      <p:sp>
        <p:nvSpPr>
          <p:cNvPr id="13" name="Shape 11"/>
          <p:cNvSpPr/>
          <p:nvPr/>
        </p:nvSpPr>
        <p:spPr>
          <a:xfrm>
            <a:off x="548640" y="3931920"/>
            <a:ext cx="5349240" cy="2057400"/>
          </a:xfrm>
          <a:prstGeom prst="rect">
            <a:avLst/>
          </a:prstGeom>
          <a:solidFill>
            <a:srgbClr val="F1F3F6"/>
          </a:solidFill>
          <a:ln w="12700">
            <a:solidFill>
              <a:srgbClr val="D9DCE1"/>
            </a:solidFill>
            <a:prstDash val="solid"/>
          </a:ln>
        </p:spPr>
      </p:sp>
      <p:sp>
        <p:nvSpPr>
          <p:cNvPr id="14" name="Text 12"/>
          <p:cNvSpPr/>
          <p:nvPr/>
        </p:nvSpPr>
        <p:spPr>
          <a:xfrm>
            <a:off x="777240" y="4114800"/>
            <a:ext cx="457200" cy="365760"/>
          </a:xfrm>
          <a:prstGeom prst="rect">
            <a:avLst/>
          </a:prstGeom>
          <a:noFill/>
          <a:ln/>
        </p:spPr>
        <p:txBody>
          <a:bodyPr wrap="square" rtlCol="0" anchor="ctr"/>
          <a:lstStyle/>
          <a:p>
            <a:pPr indent="0" marL="0">
              <a:buNone/>
            </a:pPr>
            <a:r>
              <a:rPr lang="en-US" sz="1600" b="1" dirty="0">
                <a:solidFill>
                  <a:srgbClr val="2E5AAC"/>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188720" y="4114800"/>
            <a:ext cx="4526280" cy="548640"/>
          </a:xfrm>
          <a:prstGeom prst="rect">
            <a:avLst/>
          </a:prstGeom>
          <a:noFill/>
          <a:ln/>
        </p:spPr>
        <p:txBody>
          <a:bodyPr wrap="square" rtlCol="0" anchor="ctr"/>
          <a:lstStyle/>
          <a:p>
            <a:pPr indent="0" marL="0">
              <a:buNone/>
            </a:pPr>
            <a:r>
              <a:rPr lang="en-US" sz="1450" b="1" dirty="0">
                <a:solidFill>
                  <a:srgbClr val="23262B"/>
                </a:solidFill>
                <a:latin typeface="Calibri" pitchFamily="34" charset="0"/>
                <a:ea typeface="Calibri" pitchFamily="34" charset="-122"/>
                <a:cs typeface="Calibri" pitchFamily="34" charset="-120"/>
              </a:rPr>
              <a:t>Ratings and sentiment largely agree</a:t>
            </a:r>
            <a:endParaRPr lang="en-US" sz="1450" dirty="0"/>
          </a:p>
        </p:txBody>
      </p:sp>
      <p:sp>
        <p:nvSpPr>
          <p:cNvPr id="16" name="Text 14"/>
          <p:cNvSpPr/>
          <p:nvPr/>
        </p:nvSpPr>
        <p:spPr>
          <a:xfrm>
            <a:off x="777240" y="4709160"/>
            <a:ext cx="4892040" cy="1143000"/>
          </a:xfrm>
          <a:prstGeom prst="rect">
            <a:avLst/>
          </a:prstGeom>
          <a:noFill/>
          <a:ln/>
        </p:spPr>
        <p:txBody>
          <a:bodyPr wrap="square" rtlCol="0" anchor="ctr"/>
          <a:lstStyle/>
          <a:p>
            <a:pPr indent="0" marL="0">
              <a:lnSpc>
                <a:spcPct val="130000"/>
              </a:lnSpc>
              <a:buNone/>
            </a:pPr>
            <a:r>
              <a:rPr lang="en-US" sz="1180" dirty="0">
                <a:solidFill>
                  <a:srgbClr val="6B7280"/>
                </a:solidFill>
                <a:latin typeface="Calibri" pitchFamily="34" charset="0"/>
                <a:ea typeface="Calibri" pitchFamily="34" charset="-122"/>
                <a:cs typeface="Calibri" pitchFamily="34" charset="-120"/>
              </a:rPr>
              <a:t>Average polarity rises step-by-step from 1★ to 5★, so star ratings are a fairly reliable proxy for text sentiment.</a:t>
            </a:r>
            <a:endParaRPr lang="en-US" sz="1180" dirty="0"/>
          </a:p>
        </p:txBody>
      </p:sp>
      <p:sp>
        <p:nvSpPr>
          <p:cNvPr id="17" name="Shape 15"/>
          <p:cNvSpPr/>
          <p:nvPr/>
        </p:nvSpPr>
        <p:spPr>
          <a:xfrm>
            <a:off x="6217920" y="3931920"/>
            <a:ext cx="5349240" cy="2057400"/>
          </a:xfrm>
          <a:prstGeom prst="rect">
            <a:avLst/>
          </a:prstGeom>
          <a:solidFill>
            <a:srgbClr val="F1F3F6"/>
          </a:solidFill>
          <a:ln w="12700">
            <a:solidFill>
              <a:srgbClr val="D9DCE1"/>
            </a:solidFill>
            <a:prstDash val="solid"/>
          </a:ln>
        </p:spPr>
      </p:sp>
      <p:sp>
        <p:nvSpPr>
          <p:cNvPr id="18" name="Text 16"/>
          <p:cNvSpPr/>
          <p:nvPr/>
        </p:nvSpPr>
        <p:spPr>
          <a:xfrm>
            <a:off x="6446520" y="4114800"/>
            <a:ext cx="457200" cy="365760"/>
          </a:xfrm>
          <a:prstGeom prst="rect">
            <a:avLst/>
          </a:prstGeom>
          <a:noFill/>
          <a:ln/>
        </p:spPr>
        <p:txBody>
          <a:bodyPr wrap="square" rtlCol="0" anchor="ctr"/>
          <a:lstStyle/>
          <a:p>
            <a:pPr indent="0" marL="0">
              <a:buNone/>
            </a:pPr>
            <a:r>
              <a:rPr lang="en-US" sz="1600" b="1" dirty="0">
                <a:solidFill>
                  <a:srgbClr val="2E5AAC"/>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6858000" y="4114800"/>
            <a:ext cx="4526280" cy="548640"/>
          </a:xfrm>
          <a:prstGeom prst="rect">
            <a:avLst/>
          </a:prstGeom>
          <a:noFill/>
          <a:ln/>
        </p:spPr>
        <p:txBody>
          <a:bodyPr wrap="square" rtlCol="0" anchor="ctr"/>
          <a:lstStyle/>
          <a:p>
            <a:pPr indent="0" marL="0">
              <a:buNone/>
            </a:pPr>
            <a:r>
              <a:rPr lang="en-US" sz="1450" b="1" dirty="0">
                <a:solidFill>
                  <a:srgbClr val="23262B"/>
                </a:solidFill>
                <a:latin typeface="Calibri" pitchFamily="34" charset="0"/>
                <a:ea typeface="Calibri" pitchFamily="34" charset="-122"/>
                <a:cs typeface="Calibri" pitchFamily="34" charset="-120"/>
              </a:rPr>
              <a:t>3★ reviews are the most mixed</a:t>
            </a:r>
            <a:endParaRPr lang="en-US" sz="1450" dirty="0"/>
          </a:p>
        </p:txBody>
      </p:sp>
      <p:sp>
        <p:nvSpPr>
          <p:cNvPr id="20" name="Text 18"/>
          <p:cNvSpPr/>
          <p:nvPr/>
        </p:nvSpPr>
        <p:spPr>
          <a:xfrm>
            <a:off x="6446520" y="4709160"/>
            <a:ext cx="4892040" cy="1143000"/>
          </a:xfrm>
          <a:prstGeom prst="rect">
            <a:avLst/>
          </a:prstGeom>
          <a:noFill/>
          <a:ln/>
        </p:spPr>
        <p:txBody>
          <a:bodyPr wrap="square" rtlCol="0" anchor="ctr"/>
          <a:lstStyle/>
          <a:p>
            <a:pPr indent="0" marL="0">
              <a:lnSpc>
                <a:spcPct val="130000"/>
              </a:lnSpc>
              <a:buNone/>
            </a:pPr>
            <a:r>
              <a:rPr lang="en-US" sz="1180" dirty="0">
                <a:solidFill>
                  <a:srgbClr val="6B7280"/>
                </a:solidFill>
                <a:latin typeface="Calibri" pitchFamily="34" charset="0"/>
                <a:ea typeface="Calibri" pitchFamily="34" charset="-122"/>
                <a:cs typeface="Calibri" pitchFamily="34" charset="-120"/>
              </a:rPr>
              <a:t>Mid-tier reviews often praise the phone but dock a star for logistics — worth separating from true product complaints.</a:t>
            </a:r>
            <a:endParaRPr lang="en-US" sz="1180" dirty="0"/>
          </a:p>
        </p:txBody>
      </p:sp>
      <p:sp>
        <p:nvSpPr>
          <p:cNvPr id="21" name="Text 19"/>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22" name="Text 20"/>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indent="0" marL="0">
              <a:buNone/>
            </a:pPr>
            <a:r>
              <a:rPr lang="en-US" sz="1200" b="1" spc="150" kern="0" dirty="0">
                <a:solidFill>
                  <a:srgbClr val="2E5AA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58368"/>
            <a:ext cx="10515600" cy="594360"/>
          </a:xfrm>
          <a:prstGeom prst="rect">
            <a:avLst/>
          </a:prstGeom>
          <a:noFill/>
          <a:ln/>
        </p:spPr>
        <p:txBody>
          <a:bodyPr wrap="square" rtlCol="0" anchor="ctr"/>
          <a:lstStyle/>
          <a:p>
            <a:pPr indent="0" marL="0">
              <a:buNone/>
            </a:pPr>
            <a:r>
              <a:rPr lang="en-US" sz="2800" b="1" dirty="0">
                <a:solidFill>
                  <a:srgbClr val="23262B"/>
                </a:solidFill>
                <a:latin typeface="Calibri" pitchFamily="34" charset="0"/>
                <a:ea typeface="Calibri" pitchFamily="34" charset="-122"/>
                <a:cs typeface="Calibri" pitchFamily="34" charset="-120"/>
              </a:rPr>
              <a:t>What This Suggests</a:t>
            </a:r>
            <a:endParaRPr lang="en-US" sz="2800" dirty="0"/>
          </a:p>
        </p:txBody>
      </p:sp>
      <p:sp>
        <p:nvSpPr>
          <p:cNvPr id="4" name="Shape 2"/>
          <p:cNvSpPr/>
          <p:nvPr/>
        </p:nvSpPr>
        <p:spPr>
          <a:xfrm>
            <a:off x="548640" y="1298448"/>
            <a:ext cx="11064240" cy="0"/>
          </a:xfrm>
          <a:prstGeom prst="line">
            <a:avLst/>
          </a:prstGeom>
          <a:noFill/>
          <a:ln w="12700">
            <a:solidFill>
              <a:srgbClr val="D9DCE1"/>
            </a:solidFill>
            <a:prstDash val="solid"/>
          </a:ln>
        </p:spPr>
      </p:sp>
      <p:sp>
        <p:nvSpPr>
          <p:cNvPr id="5" name="Shape 3"/>
          <p:cNvSpPr/>
          <p:nvPr/>
        </p:nvSpPr>
        <p:spPr>
          <a:xfrm>
            <a:off x="548640" y="1600200"/>
            <a:ext cx="5257800" cy="2103120"/>
          </a:xfrm>
          <a:prstGeom prst="rect">
            <a:avLst/>
          </a:prstGeom>
          <a:solidFill>
            <a:srgbClr val="F1F3F6"/>
          </a:solidFill>
          <a:ln w="12700">
            <a:solidFill>
              <a:srgbClr val="D9DCE1"/>
            </a:solidFill>
            <a:prstDash val="solid"/>
          </a:ln>
        </p:spPr>
      </p:sp>
      <p:sp>
        <p:nvSpPr>
          <p:cNvPr id="6" name="Text 4"/>
          <p:cNvSpPr/>
          <p:nvPr/>
        </p:nvSpPr>
        <p:spPr>
          <a:xfrm>
            <a:off x="822960" y="1801368"/>
            <a:ext cx="4572000" cy="457200"/>
          </a:xfrm>
          <a:prstGeom prst="rect">
            <a:avLst/>
          </a:prstGeom>
          <a:noFill/>
          <a:ln/>
        </p:spPr>
        <p:txBody>
          <a:bodyPr wrap="square" rtlCol="0" anchor="ctr"/>
          <a:lstStyle/>
          <a:p>
            <a:pPr indent="0" marL="0">
              <a:buNone/>
            </a:pPr>
            <a:r>
              <a:rPr lang="en-US" sz="1500" b="1" dirty="0">
                <a:solidFill>
                  <a:srgbClr val="C9622A"/>
                </a:solidFill>
                <a:latin typeface="Calibri" pitchFamily="34" charset="0"/>
                <a:ea typeface="Calibri" pitchFamily="34" charset="-122"/>
                <a:cs typeface="Calibri" pitchFamily="34" charset="-120"/>
              </a:rPr>
              <a:t>For the product</a:t>
            </a:r>
            <a:endParaRPr lang="en-US" sz="1500" dirty="0"/>
          </a:p>
        </p:txBody>
      </p:sp>
      <p:sp>
        <p:nvSpPr>
          <p:cNvPr id="7" name="Text 5"/>
          <p:cNvSpPr/>
          <p:nvPr/>
        </p:nvSpPr>
        <p:spPr>
          <a:xfrm>
            <a:off x="822960" y="2377440"/>
            <a:ext cx="4709160" cy="1234440"/>
          </a:xfrm>
          <a:prstGeom prst="rect">
            <a:avLst/>
          </a:prstGeom>
          <a:noFill/>
          <a:ln/>
        </p:spPr>
        <p:txBody>
          <a:bodyPr wrap="square" rtlCol="0" anchor="ctr"/>
          <a:lstStyle/>
          <a:p>
            <a:pPr indent="0" marL="0">
              <a:lnSpc>
                <a:spcPct val="135000"/>
              </a:lnSpc>
              <a:buNone/>
            </a:pPr>
            <a:r>
              <a:rPr lang="en-US" sz="1200" dirty="0">
                <a:solidFill>
                  <a:srgbClr val="23262B"/>
                </a:solidFill>
                <a:latin typeface="Calibri" pitchFamily="34" charset="0"/>
                <a:ea typeface="Calibri" pitchFamily="34" charset="-122"/>
                <a:cs typeface="Calibri" pitchFamily="34" charset="-120"/>
              </a:rPr>
              <a:t>Camera and battery are safe to lead marketing with; no recurring hardware complaint stands out in negative reviews.</a:t>
            </a:r>
            <a:endParaRPr lang="en-US" sz="1200" dirty="0"/>
          </a:p>
        </p:txBody>
      </p:sp>
      <p:sp>
        <p:nvSpPr>
          <p:cNvPr id="8" name="Shape 6"/>
          <p:cNvSpPr/>
          <p:nvPr/>
        </p:nvSpPr>
        <p:spPr>
          <a:xfrm>
            <a:off x="548640" y="3977640"/>
            <a:ext cx="5257800" cy="2103120"/>
          </a:xfrm>
          <a:prstGeom prst="rect">
            <a:avLst/>
          </a:prstGeom>
          <a:solidFill>
            <a:srgbClr val="F1F3F6"/>
          </a:solidFill>
          <a:ln w="12700">
            <a:solidFill>
              <a:srgbClr val="D9DCE1"/>
            </a:solidFill>
            <a:prstDash val="solid"/>
          </a:ln>
        </p:spPr>
      </p:sp>
      <p:sp>
        <p:nvSpPr>
          <p:cNvPr id="9" name="Text 7"/>
          <p:cNvSpPr/>
          <p:nvPr/>
        </p:nvSpPr>
        <p:spPr>
          <a:xfrm>
            <a:off x="822960" y="4178808"/>
            <a:ext cx="4572000" cy="457200"/>
          </a:xfrm>
          <a:prstGeom prst="rect">
            <a:avLst/>
          </a:prstGeom>
          <a:noFill/>
          <a:ln/>
        </p:spPr>
        <p:txBody>
          <a:bodyPr wrap="square" rtlCol="0" anchor="ctr"/>
          <a:lstStyle/>
          <a:p>
            <a:pPr indent="0" marL="0">
              <a:buNone/>
            </a:pPr>
            <a:r>
              <a:rPr lang="en-US" sz="1500" b="1" dirty="0">
                <a:solidFill>
                  <a:srgbClr val="C9622A"/>
                </a:solidFill>
                <a:latin typeface="Calibri" pitchFamily="34" charset="0"/>
                <a:ea typeface="Calibri" pitchFamily="34" charset="-122"/>
                <a:cs typeface="Calibri" pitchFamily="34" charset="-120"/>
              </a:rPr>
              <a:t>For logistics</a:t>
            </a:r>
            <a:endParaRPr lang="en-US" sz="1500" dirty="0"/>
          </a:p>
        </p:txBody>
      </p:sp>
      <p:sp>
        <p:nvSpPr>
          <p:cNvPr id="10" name="Text 8"/>
          <p:cNvSpPr/>
          <p:nvPr/>
        </p:nvSpPr>
        <p:spPr>
          <a:xfrm>
            <a:off x="822960" y="4754880"/>
            <a:ext cx="4709160" cy="1234440"/>
          </a:xfrm>
          <a:prstGeom prst="rect">
            <a:avLst/>
          </a:prstGeom>
          <a:noFill/>
          <a:ln/>
        </p:spPr>
        <p:txBody>
          <a:bodyPr wrap="square" rtlCol="0" anchor="ctr"/>
          <a:lstStyle/>
          <a:p>
            <a:pPr indent="0" marL="0">
              <a:lnSpc>
                <a:spcPct val="135000"/>
              </a:lnSpc>
              <a:buNone/>
            </a:pPr>
            <a:r>
              <a:rPr lang="en-US" sz="1200" dirty="0">
                <a:solidFill>
                  <a:srgbClr val="23262B"/>
                </a:solidFill>
                <a:latin typeface="Calibri" pitchFamily="34" charset="0"/>
                <a:ea typeface="Calibri" pitchFamily="34" charset="-122"/>
                <a:cs typeface="Calibri" pitchFamily="34" charset="-120"/>
              </a:rPr>
              <a:t>Investigate packaging and courier partners in regions driving delayed / damaged-box complaints — the single biggest negative-sentiment driver.</a:t>
            </a:r>
            <a:endParaRPr lang="en-US" sz="1200" dirty="0"/>
          </a:p>
        </p:txBody>
      </p:sp>
      <p:sp>
        <p:nvSpPr>
          <p:cNvPr id="11" name="Shape 9"/>
          <p:cNvSpPr/>
          <p:nvPr/>
        </p:nvSpPr>
        <p:spPr>
          <a:xfrm>
            <a:off x="6355080" y="1600200"/>
            <a:ext cx="5257800" cy="2103120"/>
          </a:xfrm>
          <a:prstGeom prst="rect">
            <a:avLst/>
          </a:prstGeom>
          <a:solidFill>
            <a:srgbClr val="F1F3F6"/>
          </a:solidFill>
          <a:ln w="12700">
            <a:solidFill>
              <a:srgbClr val="D9DCE1"/>
            </a:solidFill>
            <a:prstDash val="solid"/>
          </a:ln>
        </p:spPr>
      </p:sp>
      <p:sp>
        <p:nvSpPr>
          <p:cNvPr id="12" name="Text 10"/>
          <p:cNvSpPr/>
          <p:nvPr/>
        </p:nvSpPr>
        <p:spPr>
          <a:xfrm>
            <a:off x="6629400" y="1801368"/>
            <a:ext cx="4572000" cy="457200"/>
          </a:xfrm>
          <a:prstGeom prst="rect">
            <a:avLst/>
          </a:prstGeom>
          <a:noFill/>
          <a:ln/>
        </p:spPr>
        <p:txBody>
          <a:bodyPr wrap="square" rtlCol="0" anchor="ctr"/>
          <a:lstStyle/>
          <a:p>
            <a:pPr indent="0" marL="0">
              <a:buNone/>
            </a:pPr>
            <a:r>
              <a:rPr lang="en-US" sz="1500" b="1" dirty="0">
                <a:solidFill>
                  <a:srgbClr val="C9622A"/>
                </a:solidFill>
                <a:latin typeface="Calibri" pitchFamily="34" charset="0"/>
                <a:ea typeface="Calibri" pitchFamily="34" charset="-122"/>
                <a:cs typeface="Calibri" pitchFamily="34" charset="-120"/>
              </a:rPr>
              <a:t>For marketing</a:t>
            </a:r>
            <a:endParaRPr lang="en-US" sz="1500" dirty="0"/>
          </a:p>
        </p:txBody>
      </p:sp>
      <p:sp>
        <p:nvSpPr>
          <p:cNvPr id="13" name="Text 11"/>
          <p:cNvSpPr/>
          <p:nvPr/>
        </p:nvSpPr>
        <p:spPr>
          <a:xfrm>
            <a:off x="6629400" y="2377440"/>
            <a:ext cx="4709160" cy="1234440"/>
          </a:xfrm>
          <a:prstGeom prst="rect">
            <a:avLst/>
          </a:prstGeom>
          <a:noFill/>
          <a:ln/>
        </p:spPr>
        <p:txBody>
          <a:bodyPr wrap="square" rtlCol="0" anchor="ctr"/>
          <a:lstStyle/>
          <a:p>
            <a:pPr indent="0" marL="0">
              <a:lnSpc>
                <a:spcPct val="135000"/>
              </a:lnSpc>
              <a:buNone/>
            </a:pPr>
            <a:r>
              <a:rPr lang="en-US" sz="1200" dirty="0">
                <a:solidFill>
                  <a:srgbClr val="23262B"/>
                </a:solidFill>
                <a:latin typeface="Calibri" pitchFamily="34" charset="0"/>
                <a:ea typeface="Calibri" pitchFamily="34" charset="-122"/>
                <a:cs typeface="Calibri" pitchFamily="34" charset="-120"/>
              </a:rPr>
              <a:t>Feature verbatim positive phrases about camera quality and battery life in ad copy — they mirror what customers actually say.</a:t>
            </a:r>
            <a:endParaRPr lang="en-US" sz="1200" dirty="0"/>
          </a:p>
        </p:txBody>
      </p:sp>
      <p:sp>
        <p:nvSpPr>
          <p:cNvPr id="14" name="Shape 12"/>
          <p:cNvSpPr/>
          <p:nvPr/>
        </p:nvSpPr>
        <p:spPr>
          <a:xfrm>
            <a:off x="6355080" y="3977640"/>
            <a:ext cx="5257800" cy="2103120"/>
          </a:xfrm>
          <a:prstGeom prst="rect">
            <a:avLst/>
          </a:prstGeom>
          <a:solidFill>
            <a:srgbClr val="F1F3F6"/>
          </a:solidFill>
          <a:ln w="12700">
            <a:solidFill>
              <a:srgbClr val="D9DCE1"/>
            </a:solidFill>
            <a:prstDash val="solid"/>
          </a:ln>
        </p:spPr>
      </p:sp>
      <p:sp>
        <p:nvSpPr>
          <p:cNvPr id="15" name="Text 13"/>
          <p:cNvSpPr/>
          <p:nvPr/>
        </p:nvSpPr>
        <p:spPr>
          <a:xfrm>
            <a:off x="6629400" y="4178808"/>
            <a:ext cx="4572000" cy="457200"/>
          </a:xfrm>
          <a:prstGeom prst="rect">
            <a:avLst/>
          </a:prstGeom>
          <a:noFill/>
          <a:ln/>
        </p:spPr>
        <p:txBody>
          <a:bodyPr wrap="square" rtlCol="0" anchor="ctr"/>
          <a:lstStyle/>
          <a:p>
            <a:pPr indent="0" marL="0">
              <a:buNone/>
            </a:pPr>
            <a:r>
              <a:rPr lang="en-US" sz="1500" b="1" dirty="0">
                <a:solidFill>
                  <a:srgbClr val="C9622A"/>
                </a:solidFill>
                <a:latin typeface="Calibri" pitchFamily="34" charset="0"/>
                <a:ea typeface="Calibri" pitchFamily="34" charset="-122"/>
                <a:cs typeface="Calibri" pitchFamily="34" charset="-120"/>
              </a:rPr>
              <a:t>For future analysis</a:t>
            </a:r>
            <a:endParaRPr lang="en-US" sz="1500" dirty="0"/>
          </a:p>
        </p:txBody>
      </p:sp>
      <p:sp>
        <p:nvSpPr>
          <p:cNvPr id="16" name="Text 14"/>
          <p:cNvSpPr/>
          <p:nvPr/>
        </p:nvSpPr>
        <p:spPr>
          <a:xfrm>
            <a:off x="6629400" y="4754880"/>
            <a:ext cx="4709160" cy="1234440"/>
          </a:xfrm>
          <a:prstGeom prst="rect">
            <a:avLst/>
          </a:prstGeom>
          <a:noFill/>
          <a:ln/>
        </p:spPr>
        <p:txBody>
          <a:bodyPr wrap="square" rtlCol="0" anchor="ctr"/>
          <a:lstStyle/>
          <a:p>
            <a:pPr indent="0" marL="0">
              <a:lnSpc>
                <a:spcPct val="135000"/>
              </a:lnSpc>
              <a:buNone/>
            </a:pPr>
            <a:r>
              <a:rPr lang="en-US" sz="1200" dirty="0">
                <a:solidFill>
                  <a:srgbClr val="23262B"/>
                </a:solidFill>
                <a:latin typeface="Calibri" pitchFamily="34" charset="0"/>
                <a:ea typeface="Calibri" pitchFamily="34" charset="-122"/>
                <a:cs typeface="Calibri" pitchFamily="34" charset="-120"/>
              </a:rPr>
              <a:t>Segment 3★ reviews separately from 1–2★ to avoid conflating logistics frustration with genuine product dissatisfaction.</a:t>
            </a:r>
            <a:endParaRPr lang="en-US" sz="1200" dirty="0"/>
          </a:p>
        </p:txBody>
      </p:sp>
      <p:sp>
        <p:nvSpPr>
          <p:cNvPr id="17" name="Text 15"/>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18" name="Text 16"/>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430"/>
        </a:solidFill>
      </p:bgPr>
    </p:bg>
    <p:spTree>
      <p:nvGrpSpPr>
        <p:cNvPr id="1" name=""/>
        <p:cNvGrpSpPr/>
        <p:nvPr/>
      </p:nvGrpSpPr>
      <p:grpSpPr>
        <a:xfrm>
          <a:off x="0" y="0"/>
          <a:ext cx="0" cy="0"/>
          <a:chOff x="0" y="0"/>
          <a:chExt cx="0" cy="0"/>
        </a:xfrm>
      </p:grpSpPr>
      <p:sp>
        <p:nvSpPr>
          <p:cNvPr id="2" name="Text 0"/>
          <p:cNvSpPr/>
          <p:nvPr/>
        </p:nvSpPr>
        <p:spPr>
          <a:xfrm>
            <a:off x="640080" y="2103120"/>
            <a:ext cx="7315200" cy="548640"/>
          </a:xfrm>
          <a:prstGeom prst="rect">
            <a:avLst/>
          </a:prstGeom>
          <a:noFill/>
          <a:ln/>
        </p:spPr>
        <p:txBody>
          <a:bodyPr wrap="square" rtlCol="0" anchor="ctr"/>
          <a:lstStyle/>
          <a:p>
            <a:pPr indent="0" marL="0">
              <a:buNone/>
            </a:pPr>
            <a:r>
              <a:rPr lang="en-US" sz="1400" b="1" spc="200" kern="0" dirty="0">
                <a:solidFill>
                  <a:srgbClr val="8FA8D6"/>
                </a:solidFill>
                <a:latin typeface="Calibri" pitchFamily="34" charset="0"/>
                <a:ea typeface="Calibri" pitchFamily="34" charset="-122"/>
                <a:cs typeface="Calibri" pitchFamily="34" charset="-120"/>
              </a:rPr>
              <a:t>Conclusion</a:t>
            </a:r>
            <a:endParaRPr lang="en-US" sz="1400" dirty="0"/>
          </a:p>
        </p:txBody>
      </p:sp>
      <p:sp>
        <p:nvSpPr>
          <p:cNvPr id="3" name="Text 1"/>
          <p:cNvSpPr/>
          <p:nvPr/>
        </p:nvSpPr>
        <p:spPr>
          <a:xfrm>
            <a:off x="640080" y="2514600"/>
            <a:ext cx="987552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Raw Reviews to Real Insight</a:t>
            </a:r>
            <a:endParaRPr lang="en-US" sz="3000" dirty="0"/>
          </a:p>
        </p:txBody>
      </p:sp>
      <p:sp>
        <p:nvSpPr>
          <p:cNvPr id="4" name="Text 2"/>
          <p:cNvSpPr/>
          <p:nvPr/>
        </p:nvSpPr>
        <p:spPr>
          <a:xfrm>
            <a:off x="640080" y="3337560"/>
            <a:ext cx="8778240" cy="1005840"/>
          </a:xfrm>
          <a:prstGeom prst="rect">
            <a:avLst/>
          </a:prstGeom>
          <a:noFill/>
          <a:ln/>
        </p:spPr>
        <p:txBody>
          <a:bodyPr wrap="square" rtlCol="0" anchor="ctr"/>
          <a:lstStyle/>
          <a:p>
            <a:pPr indent="0" marL="0">
              <a:lnSpc>
                <a:spcPct val="140000"/>
              </a:lnSpc>
              <a:buNone/>
            </a:pPr>
            <a:r>
              <a:rPr lang="en-US" sz="1400" dirty="0">
                <a:solidFill>
                  <a:srgbClr val="AEB8C4"/>
                </a:solidFill>
                <a:latin typeface="Calibri" pitchFamily="34" charset="0"/>
                <a:ea typeface="Calibri" pitchFamily="34" charset="-122"/>
                <a:cs typeface="Calibri" pitchFamily="34" charset="-120"/>
              </a:rPr>
              <a:t>A repeatable pipeline — scrape, clean, score, visualize, report — turns hundreds of unstructured Flipkart reviews into clear signal on what customers love about the iPhone 15 and where the buying experience can improve.</a:t>
            </a:r>
            <a:endParaRPr lang="en-US" sz="1400" dirty="0"/>
          </a:p>
        </p:txBody>
      </p:sp>
      <p:sp>
        <p:nvSpPr>
          <p:cNvPr id="5" name="Text 3"/>
          <p:cNvSpPr/>
          <p:nvPr/>
        </p:nvSpPr>
        <p:spPr>
          <a:xfrm>
            <a:off x="640080" y="4572000"/>
            <a:ext cx="5486400" cy="457200"/>
          </a:xfrm>
          <a:prstGeom prst="rect">
            <a:avLst/>
          </a:prstGeom>
          <a:noFill/>
          <a:ln/>
        </p:spPr>
        <p:txBody>
          <a:bodyPr wrap="square" rtlCol="0" anchor="ctr"/>
          <a:lstStyle/>
          <a:p>
            <a:pPr indent="0" marL="0">
              <a:buNone/>
            </a:pPr>
            <a:r>
              <a:rPr lang="en-US" sz="1800" b="1" dirty="0">
                <a:solidFill>
                  <a:srgbClr val="8FA8D6"/>
                </a:solidFill>
                <a:latin typeface="Calibri" pitchFamily="34" charset="0"/>
                <a:ea typeface="Calibri" pitchFamily="34" charset="-122"/>
                <a:cs typeface="Calibri" pitchFamily="34" charset="-120"/>
              </a:rPr>
              <a:t>Thank you</a:t>
            </a:r>
            <a:endParaRPr lang="en-US" sz="1800" dirty="0"/>
          </a:p>
        </p:txBody>
      </p:sp>
      <p:sp>
        <p:nvSpPr>
          <p:cNvPr id="6" name="Text 4"/>
          <p:cNvSpPr/>
          <p:nvPr/>
        </p:nvSpPr>
        <p:spPr>
          <a:xfrm>
            <a:off x="548640" y="6528816"/>
            <a:ext cx="73152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iPhone 15 Review Sentiment Analysis</a:t>
            </a:r>
            <a:endParaRPr lang="en-US" sz="1000" dirty="0"/>
          </a:p>
        </p:txBody>
      </p:sp>
      <p:sp>
        <p:nvSpPr>
          <p:cNvPr id="7" name="Text 5"/>
          <p:cNvSpPr/>
          <p:nvPr/>
        </p:nvSpPr>
        <p:spPr>
          <a:xfrm>
            <a:off x="11365992" y="6528816"/>
            <a:ext cx="365760" cy="256032"/>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2026-08-22T12:06:48Z</dcterms:created>
  <dcterms:modified xsi:type="dcterms:W3CDTF">2026-08-22T12:06:48Z</dcterms:modified>
</cp:coreProperties>
</file>